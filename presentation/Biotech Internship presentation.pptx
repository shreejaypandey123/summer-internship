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91" r:id="rId9"/>
    <p:sldId id="266" r:id="rId10"/>
    <p:sldId id="292" r:id="rId11"/>
    <p:sldId id="293" r:id="rId12"/>
    <p:sldId id="294" r:id="rId13"/>
    <p:sldId id="295" r:id="rId14"/>
    <p:sldId id="290" r:id="rId15"/>
    <p:sldId id="267" r:id="rId16"/>
    <p:sldId id="297" r:id="rId17"/>
    <p:sldId id="298"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89" autoAdjust="0"/>
    <p:restoredTop sz="94660"/>
  </p:normalViewPr>
  <p:slideViewPr>
    <p:cSldViewPr snapToGrid="0">
      <p:cViewPr varScale="1">
        <p:scale>
          <a:sx n="89" d="100"/>
          <a:sy n="89" d="100"/>
        </p:scale>
        <p:origin x="84" y="1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35E964-1F42-4678-B361-C5EDA06C2D48}" type="datetimeFigureOut">
              <a:rPr lang="en-IN" smtClean="0"/>
              <a:t>21-12-2025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C6815-54ED-4804-BDE0-D350CB513E5F}" type="slidenum">
              <a:rPr lang="en-IN" smtClean="0"/>
              <a:t>‹#›</a:t>
            </a:fld>
            <a:endParaRPr lang="en-IN"/>
          </a:p>
        </p:txBody>
      </p:sp>
    </p:spTree>
    <p:extLst>
      <p:ext uri="{BB962C8B-B14F-4D97-AF65-F5344CB8AC3E}">
        <p14:creationId xmlns:p14="http://schemas.microsoft.com/office/powerpoint/2010/main" val="362509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2009775" y="5441950"/>
            <a:ext cx="16084550" cy="4454525"/>
          </a:xfrm>
          <a:prstGeom prst="rect">
            <a:avLst/>
          </a:prstGeom>
          <a:noFill/>
          <a:ln>
            <a:noFill/>
          </a:ln>
        </p:spPr>
        <p:txBody>
          <a:bodyPr spcFirstLastPara="1" wrap="square" lIns="179450" tIns="89700" rIns="179450" bIns="89700" anchor="t" anchorCtr="0">
            <a:noAutofit/>
          </a:bodyPr>
          <a:lstStyle/>
          <a:p>
            <a:pPr marL="0" lvl="0" indent="0" algn="l" rtl="0">
              <a:spcBef>
                <a:spcPts val="0"/>
              </a:spcBef>
              <a:spcAft>
                <a:spcPts val="0"/>
              </a:spcAft>
              <a:buNone/>
            </a:pPr>
            <a:endParaRPr dirty="0"/>
          </a:p>
        </p:txBody>
      </p:sp>
      <p:sp>
        <p:nvSpPr>
          <p:cNvPr id="99" name="Google Shape;99;p1: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2: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13268bc302_0_3:notes"/>
          <p:cNvSpPr txBox="1">
            <a:spLocks noGrp="1"/>
          </p:cNvSpPr>
          <p:nvPr>
            <p:ph type="body" idx="1"/>
          </p:nvPr>
        </p:nvSpPr>
        <p:spPr>
          <a:xfrm>
            <a:off x="2010410" y="5442625"/>
            <a:ext cx="16083300" cy="4453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g213268bc302_0_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15c844e61e_0_5: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215c844e61e_0_5: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7: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195381887f_1_0: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195381887f_1_0: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g2195381887f_1_0:notes"/>
          <p:cNvSpPr txBox="1">
            <a:spLocks noGrp="1"/>
          </p:cNvSpPr>
          <p:nvPr>
            <p:ph type="sldNum" idx="12"/>
          </p:nvPr>
        </p:nvSpPr>
        <p:spPr>
          <a:xfrm>
            <a:off x="11387137" y="10742612"/>
            <a:ext cx="8712300" cy="56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9</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6: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6: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195381887f_0_14: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195381887f_0_14: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g2195381887f_0_14:notes"/>
          <p:cNvSpPr txBox="1">
            <a:spLocks noGrp="1"/>
          </p:cNvSpPr>
          <p:nvPr>
            <p:ph type="sldNum" idx="12"/>
          </p:nvPr>
        </p:nvSpPr>
        <p:spPr>
          <a:xfrm>
            <a:off x="11387137" y="10742612"/>
            <a:ext cx="8712300" cy="56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15</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how the project does not belong to a single discipline but instead connects multiple fields that are essential for modern cancer research. Machine learning provides the predictive framework, bioinformatics handles biological data processing, and molecular biology gives biological meaning to the results. Data science ensures robustness and scalability of the analysis. Such interdisciplinary integration is highly relevant for both academic research and real-world applications in precision oncology and healthcare analytics.</a:t>
            </a:r>
            <a:endParaRPr lang="en-IN" dirty="0"/>
          </a:p>
        </p:txBody>
      </p:sp>
      <p:sp>
        <p:nvSpPr>
          <p:cNvPr id="4" name="Slide Number Placeholder 3"/>
          <p:cNvSpPr>
            <a:spLocks noGrp="1"/>
          </p:cNvSpPr>
          <p:nvPr>
            <p:ph type="sldNum" sz="quarter" idx="5"/>
          </p:nvPr>
        </p:nvSpPr>
        <p:spPr/>
        <p:txBody>
          <a:bodyPr/>
          <a:lstStyle/>
          <a:p>
            <a:fld id="{468C6815-54ED-4804-BDE0-D350CB513E5F}" type="slidenum">
              <a:rPr lang="en-IN" smtClean="0"/>
              <a:t>17</a:t>
            </a:fld>
            <a:endParaRPr lang="en-IN"/>
          </a:p>
        </p:txBody>
      </p:sp>
    </p:spTree>
    <p:extLst>
      <p:ext uri="{BB962C8B-B14F-4D97-AF65-F5344CB8AC3E}">
        <p14:creationId xmlns:p14="http://schemas.microsoft.com/office/powerpoint/2010/main" val="3871735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8: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0: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198b72ca4b_2_14:notes"/>
          <p:cNvSpPr txBox="1">
            <a:spLocks noGrp="1"/>
          </p:cNvSpPr>
          <p:nvPr>
            <p:ph type="body" idx="1"/>
          </p:nvPr>
        </p:nvSpPr>
        <p:spPr>
          <a:xfrm>
            <a:off x="2009775" y="5441950"/>
            <a:ext cx="16084500" cy="445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g2198b72ca4b_2_14:notes"/>
          <p:cNvSpPr>
            <a:spLocks noGrp="1" noRot="1" noChangeAspect="1"/>
          </p:cNvSpPr>
          <p:nvPr>
            <p:ph type="sldImg" idx="2"/>
          </p:nvPr>
        </p:nvSpPr>
        <p:spPr>
          <a:xfrm>
            <a:off x="6661150" y="1414463"/>
            <a:ext cx="6781800"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75F8-2CC2-DA5F-EE7F-24B5642A39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290E80-2992-0F71-A80A-22601A82B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57678A-CEAF-9D11-B757-F65CB99557B4}"/>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5" name="Footer Placeholder 4">
            <a:extLst>
              <a:ext uri="{FF2B5EF4-FFF2-40B4-BE49-F238E27FC236}">
                <a16:creationId xmlns:a16="http://schemas.microsoft.com/office/drawing/2014/main" id="{1DE5F3E2-F23A-08DE-A21D-F00BB3970C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2D0BD0-435B-DFF4-4465-7925FFF3E875}"/>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893883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2CA29-0C96-29A4-68B9-DC7F682D30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11CD5E-1A2D-56FF-1049-9A71752E50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434C7-A046-2D11-A4E3-BF2430C01378}"/>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5" name="Footer Placeholder 4">
            <a:extLst>
              <a:ext uri="{FF2B5EF4-FFF2-40B4-BE49-F238E27FC236}">
                <a16:creationId xmlns:a16="http://schemas.microsoft.com/office/drawing/2014/main" id="{EBEE070D-E8A4-F6C5-FF68-F78D0177F1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24AAB4-D08E-8B1F-80DF-70E729E1F296}"/>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40761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4BBD-2C2E-10D4-9884-90EB94D885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68607C-9D48-92A9-7D6C-14FD2168BB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F382B1-2728-1786-EB92-083B4162C2C9}"/>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5" name="Footer Placeholder 4">
            <a:extLst>
              <a:ext uri="{FF2B5EF4-FFF2-40B4-BE49-F238E27FC236}">
                <a16:creationId xmlns:a16="http://schemas.microsoft.com/office/drawing/2014/main" id="{F200038C-9480-F446-ABE0-F83DEFDB3B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36B70E-8AB8-EA33-28B9-78214D375F14}"/>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4099893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31CAD-90CD-F511-94E2-0E24E8DA69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786B0D-B2B0-594B-8445-9C76E7164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8E17F3-8917-3F16-608D-0BDE20135D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E48C8E-C02C-B30A-2E01-2F92436B47BB}"/>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6" name="Footer Placeholder 5">
            <a:extLst>
              <a:ext uri="{FF2B5EF4-FFF2-40B4-BE49-F238E27FC236}">
                <a16:creationId xmlns:a16="http://schemas.microsoft.com/office/drawing/2014/main" id="{DF4D3211-8D8E-05DD-7DDB-A70DE2D666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B6EC92-6245-8A36-9CE6-0837F3D6FD1B}"/>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339115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F3C89-05E6-5D84-08F8-D771782FF7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2F6437-DFEC-2BD3-2146-847DB94821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9471D-0016-461D-3685-92FC68303B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0311D8-8F1C-209C-2826-5C17F113F0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9FCC9B-4935-F5CA-2834-5B327ABD29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AC7061-2EDE-2A45-BB92-0DC95E95C853}"/>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8" name="Footer Placeholder 7">
            <a:extLst>
              <a:ext uri="{FF2B5EF4-FFF2-40B4-BE49-F238E27FC236}">
                <a16:creationId xmlns:a16="http://schemas.microsoft.com/office/drawing/2014/main" id="{F3934AFB-32F8-EB38-D47E-4C755342FC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B8485A-B3A0-CEF7-4521-B1E9F1B20792}"/>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104433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A13CA-6915-C40C-5736-CFEA94C735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9F871F-F295-DDF1-D5CE-2F742FF275BC}"/>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4" name="Footer Placeholder 3">
            <a:extLst>
              <a:ext uri="{FF2B5EF4-FFF2-40B4-BE49-F238E27FC236}">
                <a16:creationId xmlns:a16="http://schemas.microsoft.com/office/drawing/2014/main" id="{475205CF-321A-E833-4EF2-7B1DA1519B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D073846-10ED-7232-016E-45205967D21A}"/>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2004871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9914FF-F223-705B-9F18-BE94080EAD8F}"/>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3" name="Footer Placeholder 2">
            <a:extLst>
              <a:ext uri="{FF2B5EF4-FFF2-40B4-BE49-F238E27FC236}">
                <a16:creationId xmlns:a16="http://schemas.microsoft.com/office/drawing/2014/main" id="{AD8826C1-D67B-BF96-B488-1DCEC31E58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D2402E-99A5-06AA-2B6D-DCD8867C77BA}"/>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2403596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F94FA-7CA0-816D-1A75-60FFD3F862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4C7E794-58ED-551B-8FAC-4B384DFC10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2E0C72-C48C-EB9F-F77B-03CD937771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09E9C5-1EE5-84CC-8B65-5989417DFAF4}"/>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6" name="Footer Placeholder 5">
            <a:extLst>
              <a:ext uri="{FF2B5EF4-FFF2-40B4-BE49-F238E27FC236}">
                <a16:creationId xmlns:a16="http://schemas.microsoft.com/office/drawing/2014/main" id="{7C1E1367-45A1-2491-8F6A-9A4D848592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665C73-7E95-B12F-91DF-1FC1D18C6FB7}"/>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2064082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95E5C-583D-CF23-CBD4-F766837A76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7A8B30-2C5C-D6C6-4BF8-245E0554EC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F39371-ACA2-EFC4-4C05-7C51081ACB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C0474-98C2-DB01-D416-A2E559CA094D}"/>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6" name="Footer Placeholder 5">
            <a:extLst>
              <a:ext uri="{FF2B5EF4-FFF2-40B4-BE49-F238E27FC236}">
                <a16:creationId xmlns:a16="http://schemas.microsoft.com/office/drawing/2014/main" id="{973BFC6F-F4A4-D709-13E9-B891F994D3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E5B0B5-08E8-3C64-0169-7379EAC99389}"/>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2601462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277FD-7B84-DEC6-B451-5DEF56FCBF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43EA2F-66A1-92E8-9F40-C37C7CE983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5F2436-327F-9D34-1B97-BB576625D1A9}"/>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5" name="Footer Placeholder 4">
            <a:extLst>
              <a:ext uri="{FF2B5EF4-FFF2-40B4-BE49-F238E27FC236}">
                <a16:creationId xmlns:a16="http://schemas.microsoft.com/office/drawing/2014/main" id="{3689D62A-D7A2-9FC9-CAE8-D66A6D7953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2AE05A-ED07-CB2F-562D-E0E6701A66CD}"/>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2741878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54E331-B25B-D472-8D81-699A6C1DB6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0B12ED-F098-D582-7D54-57BF25CF61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3098DE-C799-A630-2E00-A291667511A3}"/>
              </a:ext>
            </a:extLst>
          </p:cNvPr>
          <p:cNvSpPr>
            <a:spLocks noGrp="1"/>
          </p:cNvSpPr>
          <p:nvPr>
            <p:ph type="dt" sz="half" idx="10"/>
          </p:nvPr>
        </p:nvSpPr>
        <p:spPr/>
        <p:txBody>
          <a:bodyPr/>
          <a:lstStyle/>
          <a:p>
            <a:fld id="{4580F306-EBA2-4D64-B932-1ABFA56396DB}" type="datetimeFigureOut">
              <a:rPr lang="en-IN" smtClean="0"/>
              <a:t>21-12-2025</a:t>
            </a:fld>
            <a:endParaRPr lang="en-IN"/>
          </a:p>
        </p:txBody>
      </p:sp>
      <p:sp>
        <p:nvSpPr>
          <p:cNvPr id="5" name="Footer Placeholder 4">
            <a:extLst>
              <a:ext uri="{FF2B5EF4-FFF2-40B4-BE49-F238E27FC236}">
                <a16:creationId xmlns:a16="http://schemas.microsoft.com/office/drawing/2014/main" id="{45A65C87-CA74-18BE-B40A-44A46FC87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FE769D-D48A-65DC-849D-9E23EC7BDE2F}"/>
              </a:ext>
            </a:extLst>
          </p:cNvPr>
          <p:cNvSpPr>
            <a:spLocks noGrp="1"/>
          </p:cNvSpPr>
          <p:nvPr>
            <p:ph type="sldNum" sz="quarter" idx="12"/>
          </p:nvPr>
        </p:nvSpPr>
        <p:spPr/>
        <p:txBody>
          <a:bodyPr/>
          <a:lstStyle/>
          <a:p>
            <a:fld id="{FC45A123-1947-47C9-AD78-58C2BEE8B87A}" type="slidenum">
              <a:rPr lang="en-IN" smtClean="0"/>
              <a:t>‹#›</a:t>
            </a:fld>
            <a:endParaRPr lang="en-IN"/>
          </a:p>
        </p:txBody>
      </p:sp>
    </p:spTree>
    <p:extLst>
      <p:ext uri="{BB962C8B-B14F-4D97-AF65-F5344CB8AC3E}">
        <p14:creationId xmlns:p14="http://schemas.microsoft.com/office/powerpoint/2010/main" val="1238998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Blank" type="obj">
  <p:cSld name="2_Blank">
    <p:spTree>
      <p:nvGrpSpPr>
        <p:cNvPr id="1" name="Shape 15"/>
        <p:cNvGrpSpPr/>
        <p:nvPr/>
      </p:nvGrpSpPr>
      <p:grpSpPr>
        <a:xfrm>
          <a:off x="0" y="0"/>
          <a:ext cx="0" cy="0"/>
          <a:chOff x="0" y="0"/>
          <a:chExt cx="0" cy="0"/>
        </a:xfrm>
      </p:grpSpPr>
      <p:sp>
        <p:nvSpPr>
          <p:cNvPr id="16" name="Google Shape;16;p22"/>
          <p:cNvSpPr txBox="1">
            <a:spLocks noGrp="1"/>
          </p:cNvSpPr>
          <p:nvPr>
            <p:ph type="ftr" idx="11"/>
          </p:nvPr>
        </p:nvSpPr>
        <p:spPr>
          <a:xfrm>
            <a:off x="0" y="0"/>
            <a:ext cx="2999864" cy="2999653"/>
          </a:xfrm>
          <a:prstGeom prst="rect">
            <a:avLst/>
          </a:prstGeom>
          <a:noFill/>
          <a:ln>
            <a:noFill/>
          </a:ln>
        </p:spPr>
        <p:txBody>
          <a:bodyPr spcFirstLastPara="1" wrap="square" lIns="150400" tIns="75175" rIns="150400" bIns="75175"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2"/>
          <p:cNvSpPr txBox="1">
            <a:spLocks noGrp="1"/>
          </p:cNvSpPr>
          <p:nvPr>
            <p:ph type="dt" idx="10"/>
          </p:nvPr>
        </p:nvSpPr>
        <p:spPr>
          <a:xfrm>
            <a:off x="0" y="0"/>
            <a:ext cx="2999864" cy="2999653"/>
          </a:xfrm>
          <a:prstGeom prst="rect">
            <a:avLst/>
          </a:prstGeom>
          <a:noFill/>
          <a:ln>
            <a:noFill/>
          </a:ln>
        </p:spPr>
        <p:txBody>
          <a:bodyPr spcFirstLastPara="1" wrap="square" lIns="150400" tIns="75175" rIns="150400" bIns="75175"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2"/>
          <p:cNvSpPr txBox="1">
            <a:spLocks noGrp="1"/>
          </p:cNvSpPr>
          <p:nvPr>
            <p:ph type="sldNum" idx="12"/>
          </p:nvPr>
        </p:nvSpPr>
        <p:spPr>
          <a:xfrm>
            <a:off x="0" y="0"/>
            <a:ext cx="2999864" cy="2999653"/>
          </a:xfrm>
          <a:prstGeom prst="rect">
            <a:avLst/>
          </a:prstGeom>
          <a:noFill/>
          <a:ln>
            <a:noFill/>
          </a:ln>
        </p:spPr>
        <p:txBody>
          <a:bodyPr spcFirstLastPara="1" wrap="square" lIns="150400" tIns="75175" rIns="150400" bIns="75175" anchor="t" anchorCtr="0">
            <a:noAutofit/>
          </a:bodyPr>
          <a:lstStyle>
            <a:lvl1pPr marL="0" marR="0" lvl="0"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3000"/>
              <a:buFont typeface="Calibri"/>
              <a:buNone/>
              <a:defRPr sz="1819" b="0" i="0" u="none" strike="noStrike" cap="none">
                <a:solidFill>
                  <a:srgbClr val="000000"/>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91223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3"/>
        <p:cNvGrpSpPr/>
        <p:nvPr/>
      </p:nvGrpSpPr>
      <p:grpSpPr>
        <a:xfrm>
          <a:off x="0" y="0"/>
          <a:ext cx="0" cy="0"/>
          <a:chOff x="0" y="0"/>
          <a:chExt cx="0" cy="0"/>
        </a:xfrm>
      </p:grpSpPr>
      <p:sp>
        <p:nvSpPr>
          <p:cNvPr id="44" name="Google Shape;44;p26_ugl409484f"/>
          <p:cNvSpPr txBox="1">
            <a:spLocks noGrp="1"/>
          </p:cNvSpPr>
          <p:nvPr>
            <p:ph type="title"/>
          </p:nvPr>
        </p:nvSpPr>
        <p:spPr>
          <a:xfrm>
            <a:off x="352360" y="247406"/>
            <a:ext cx="11487282" cy="251928"/>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19" b="0" i="1">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 name="Google Shape;45;p26_ugl409484f"/>
          <p:cNvSpPr txBox="1">
            <a:spLocks noGrp="1"/>
          </p:cNvSpPr>
          <p:nvPr>
            <p:ph type="body" idx="1"/>
          </p:nvPr>
        </p:nvSpPr>
        <p:spPr>
          <a:xfrm>
            <a:off x="1665521" y="1584541"/>
            <a:ext cx="8860958" cy="413447"/>
          </a:xfrm>
          <a:prstGeom prst="rect">
            <a:avLst/>
          </a:prstGeom>
          <a:noFill/>
          <a:ln>
            <a:noFill/>
          </a:ln>
        </p:spPr>
        <p:txBody>
          <a:bodyPr spcFirstLastPara="1" wrap="square" lIns="0" tIns="0" rIns="0" bIns="0" anchor="t" anchorCtr="0">
            <a:spAutoFit/>
          </a:bodyPr>
          <a:lstStyle>
            <a:lvl1pPr marL="277246" lvl="0" indent="-138623" algn="l">
              <a:spcBef>
                <a:spcPts val="218"/>
              </a:spcBef>
              <a:spcAft>
                <a:spcPts val="0"/>
              </a:spcAft>
              <a:buSzPts val="1400"/>
              <a:buNone/>
              <a:defRPr b="0" i="0">
                <a:solidFill>
                  <a:schemeClr val="dk1"/>
                </a:solidFill>
              </a:defRPr>
            </a:lvl1pPr>
            <a:lvl2pPr marL="554492" lvl="1" indent="-138623" algn="l">
              <a:spcBef>
                <a:spcPts val="218"/>
              </a:spcBef>
              <a:spcAft>
                <a:spcPts val="0"/>
              </a:spcAft>
              <a:buSzPts val="1400"/>
              <a:buNone/>
              <a:defRPr/>
            </a:lvl2pPr>
            <a:lvl3pPr marL="831738" lvl="2" indent="-138623" algn="l">
              <a:spcBef>
                <a:spcPts val="218"/>
              </a:spcBef>
              <a:spcAft>
                <a:spcPts val="0"/>
              </a:spcAft>
              <a:buSzPts val="1400"/>
              <a:buNone/>
              <a:defRPr/>
            </a:lvl3pPr>
            <a:lvl4pPr marL="1108984" lvl="3" indent="-138623" algn="l">
              <a:spcBef>
                <a:spcPts val="218"/>
              </a:spcBef>
              <a:spcAft>
                <a:spcPts val="0"/>
              </a:spcAft>
              <a:buSzPts val="1400"/>
              <a:buNone/>
              <a:defRPr/>
            </a:lvl4pPr>
            <a:lvl5pPr marL="1386230" lvl="4" indent="-138623" algn="l">
              <a:spcBef>
                <a:spcPts val="218"/>
              </a:spcBef>
              <a:spcAft>
                <a:spcPts val="0"/>
              </a:spcAft>
              <a:buSzPts val="1400"/>
              <a:buNone/>
              <a:defRPr/>
            </a:lvl5pPr>
            <a:lvl6pPr marL="1663476" lvl="5" indent="-138623" algn="l">
              <a:spcBef>
                <a:spcPts val="0"/>
              </a:spcBef>
              <a:spcAft>
                <a:spcPts val="0"/>
              </a:spcAft>
              <a:buSzPts val="1400"/>
              <a:buNone/>
              <a:defRPr/>
            </a:lvl6pPr>
            <a:lvl7pPr marL="1940723" lvl="6" indent="-138623" algn="l">
              <a:spcBef>
                <a:spcPts val="0"/>
              </a:spcBef>
              <a:spcAft>
                <a:spcPts val="0"/>
              </a:spcAft>
              <a:buSzPts val="1400"/>
              <a:buNone/>
              <a:defRPr/>
            </a:lvl7pPr>
            <a:lvl8pPr marL="2217969" lvl="7" indent="-138623" algn="l">
              <a:spcBef>
                <a:spcPts val="0"/>
              </a:spcBef>
              <a:spcAft>
                <a:spcPts val="0"/>
              </a:spcAft>
              <a:buSzPts val="1400"/>
              <a:buNone/>
              <a:defRPr/>
            </a:lvl8pPr>
            <a:lvl9pPr marL="2495215" lvl="8" indent="-138623" algn="l">
              <a:spcBef>
                <a:spcPts val="0"/>
              </a:spcBef>
              <a:spcAft>
                <a:spcPts val="0"/>
              </a:spcAft>
              <a:buSzPts val="1400"/>
              <a:buNone/>
              <a:defRPr/>
            </a:lvl9pPr>
          </a:lstStyle>
          <a:p>
            <a:endParaRPr/>
          </a:p>
        </p:txBody>
      </p:sp>
      <p:sp>
        <p:nvSpPr>
          <p:cNvPr id="46" name="Google Shape;46;p26_ugl409484f"/>
          <p:cNvSpPr txBox="1">
            <a:spLocks noGrp="1"/>
          </p:cNvSpPr>
          <p:nvPr>
            <p:ph type="ftr" idx="11"/>
          </p:nvPr>
        </p:nvSpPr>
        <p:spPr>
          <a:xfrm>
            <a:off x="4145511" y="6377632"/>
            <a:ext cx="3900978" cy="184666"/>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6_ugl409484f"/>
          <p:cNvSpPr txBox="1">
            <a:spLocks noGrp="1"/>
          </p:cNvSpPr>
          <p:nvPr>
            <p:ph type="dt" idx="10"/>
          </p:nvPr>
        </p:nvSpPr>
        <p:spPr>
          <a:xfrm>
            <a:off x="609408" y="6377632"/>
            <a:ext cx="2804429" cy="184666"/>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6_ugl409484f"/>
          <p:cNvSpPr txBox="1">
            <a:spLocks noGrp="1"/>
          </p:cNvSpPr>
          <p:nvPr>
            <p:ph type="sldNum" idx="12"/>
          </p:nvPr>
        </p:nvSpPr>
        <p:spPr>
          <a:xfrm>
            <a:off x="8778163" y="6377632"/>
            <a:ext cx="2804429" cy="168059"/>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800"/>
              <a:buFont typeface="Calibri"/>
              <a:buNone/>
              <a:defRPr sz="1092" b="0" i="0" u="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255488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D9FF5F-D587-C7B5-B95F-A084EFB86E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DF2B87-03BD-19D3-B0D9-2E16C420F2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4456CB-BBFA-D054-4994-607D98AF19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80F306-EBA2-4D64-B932-1ABFA56396DB}" type="datetimeFigureOut">
              <a:rPr lang="en-IN" smtClean="0"/>
              <a:t>21-12-2025</a:t>
            </a:fld>
            <a:endParaRPr lang="en-IN"/>
          </a:p>
        </p:txBody>
      </p:sp>
      <p:sp>
        <p:nvSpPr>
          <p:cNvPr id="5" name="Footer Placeholder 4">
            <a:extLst>
              <a:ext uri="{FF2B5EF4-FFF2-40B4-BE49-F238E27FC236}">
                <a16:creationId xmlns:a16="http://schemas.microsoft.com/office/drawing/2014/main" id="{D81F41EB-840C-9626-B54D-D7BD06C628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59C842-42C9-5EE6-3471-877B1E169E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5A123-1947-47C9-AD78-58C2BEE8B87A}" type="slidenum">
              <a:rPr lang="en-IN" smtClean="0"/>
              <a:t>‹#›</a:t>
            </a:fld>
            <a:endParaRPr lang="en-IN"/>
          </a:p>
        </p:txBody>
      </p:sp>
    </p:spTree>
    <p:extLst>
      <p:ext uri="{BB962C8B-B14F-4D97-AF65-F5344CB8AC3E}">
        <p14:creationId xmlns:p14="http://schemas.microsoft.com/office/powerpoint/2010/main" val="1051785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428" y="0"/>
            <a:ext cx="12191144" cy="685800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91203" tIns="45586" rIns="91203" bIns="45586" anchor="ctr" anchorCtr="0">
            <a:noAutofit/>
          </a:bodyPr>
          <a:lstStyle/>
          <a:p>
            <a:endParaRPr sz="1092">
              <a:solidFill>
                <a:schemeClr val="dk1"/>
              </a:solidFill>
              <a:latin typeface="Calibri"/>
              <a:ea typeface="Calibri"/>
              <a:cs typeface="Calibri"/>
              <a:sym typeface="Calibri"/>
            </a:endParaRPr>
          </a:p>
        </p:txBody>
      </p:sp>
      <p:sp>
        <p:nvSpPr>
          <p:cNvPr id="102" name="Google Shape;102;p1"/>
          <p:cNvSpPr txBox="1"/>
          <p:nvPr/>
        </p:nvSpPr>
        <p:spPr>
          <a:xfrm>
            <a:off x="1405914" y="2500995"/>
            <a:ext cx="9736358" cy="1490848"/>
          </a:xfrm>
          <a:prstGeom prst="rect">
            <a:avLst/>
          </a:prstGeom>
          <a:noFill/>
          <a:ln>
            <a:noFill/>
          </a:ln>
        </p:spPr>
        <p:txBody>
          <a:bodyPr spcFirstLastPara="1" wrap="square" lIns="0" tIns="6913" rIns="0" bIns="0" anchor="t" anchorCtr="0">
            <a:spAutoFit/>
          </a:bodyPr>
          <a:lstStyle/>
          <a:p>
            <a:pPr marL="6738" algn="ctr">
              <a:buClr>
                <a:srgbClr val="C00000"/>
              </a:buClr>
              <a:buSzPts val="5300"/>
            </a:pPr>
            <a:r>
              <a:rPr lang="en-US" sz="3214" dirty="0">
                <a:solidFill>
                  <a:srgbClr val="C00000"/>
                </a:solidFill>
                <a:latin typeface="Calibri"/>
                <a:ea typeface="Calibri"/>
                <a:cs typeface="Calibri"/>
                <a:sym typeface="Calibri"/>
              </a:rPr>
              <a:t>Internship Experiential Learning Phase 1</a:t>
            </a:r>
            <a:endParaRPr sz="1092" dirty="0"/>
          </a:p>
          <a:p>
            <a:pPr marL="6738" algn="ctr">
              <a:buClr>
                <a:schemeClr val="dk1"/>
              </a:buClr>
              <a:buSzPts val="5300"/>
            </a:pPr>
            <a:endParaRPr sz="3214" dirty="0">
              <a:solidFill>
                <a:srgbClr val="C00000"/>
              </a:solidFill>
              <a:latin typeface="Calibri"/>
              <a:ea typeface="Calibri"/>
              <a:cs typeface="Calibri"/>
              <a:sym typeface="Calibri"/>
            </a:endParaRPr>
          </a:p>
          <a:p>
            <a:endParaRPr sz="3214" dirty="0">
              <a:solidFill>
                <a:srgbClr val="C00000"/>
              </a:solidFill>
              <a:latin typeface="Calibri"/>
              <a:ea typeface="Calibri"/>
              <a:cs typeface="Calibri"/>
              <a:sym typeface="Calibri"/>
            </a:endParaRPr>
          </a:p>
        </p:txBody>
      </p:sp>
      <p:sp>
        <p:nvSpPr>
          <p:cNvPr id="103" name="Google Shape;103;p1"/>
          <p:cNvSpPr/>
          <p:nvPr/>
        </p:nvSpPr>
        <p:spPr>
          <a:xfrm>
            <a:off x="-3422" y="9626"/>
            <a:ext cx="5689329" cy="3927659"/>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04" name="Google Shape;104;p1"/>
          <p:cNvSpPr txBox="1"/>
          <p:nvPr/>
        </p:nvSpPr>
        <p:spPr>
          <a:xfrm>
            <a:off x="286338" y="252217"/>
            <a:ext cx="1119575" cy="111668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05" name="Google Shape;105;p1"/>
          <p:cNvSpPr txBox="1"/>
          <p:nvPr/>
        </p:nvSpPr>
        <p:spPr>
          <a:xfrm>
            <a:off x="3398623" y="810561"/>
            <a:ext cx="88565" cy="8952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06" name="Google Shape;106;p1"/>
          <p:cNvSpPr txBox="1"/>
          <p:nvPr/>
        </p:nvSpPr>
        <p:spPr>
          <a:xfrm>
            <a:off x="1521433" y="437048"/>
            <a:ext cx="2310387" cy="862593"/>
          </a:xfrm>
          <a:prstGeom prst="rect">
            <a:avLst/>
          </a:prstGeom>
          <a:noFill/>
          <a:ln>
            <a:noFill/>
          </a:ln>
        </p:spPr>
        <p:txBody>
          <a:bodyPr spcFirstLastPara="1" wrap="square" lIns="0" tIns="8050" rIns="0" bIns="0" anchor="t" anchorCtr="0">
            <a:spAutoFit/>
          </a:bodyPr>
          <a:lstStyle/>
          <a:p>
            <a:pPr marL="6738">
              <a:lnSpc>
                <a:spcPct val="110000"/>
              </a:lnSpc>
              <a:buClr>
                <a:srgbClr val="FFFFFF"/>
              </a:buClr>
              <a:buSzPts val="4100"/>
            </a:pPr>
            <a:r>
              <a:rPr lang="en-US" sz="2486" b="1">
                <a:solidFill>
                  <a:srgbClr val="FFFFFF"/>
                </a:solidFill>
                <a:latin typeface="Helvetica Neue"/>
                <a:ea typeface="Helvetica Neue"/>
                <a:cs typeface="Helvetica Neue"/>
                <a:sym typeface="Helvetica Neue"/>
              </a:rPr>
              <a:t>RV College of </a:t>
            </a:r>
            <a:endParaRPr sz="1092">
              <a:solidFill>
                <a:schemeClr val="dk1"/>
              </a:solidFill>
              <a:latin typeface="Calibri"/>
              <a:ea typeface="Calibri"/>
              <a:cs typeface="Calibri"/>
              <a:sym typeface="Calibri"/>
            </a:endParaRPr>
          </a:p>
          <a:p>
            <a:pPr marL="6738">
              <a:lnSpc>
                <a:spcPct val="110000"/>
              </a:lnSpc>
              <a:spcBef>
                <a:spcPts val="61"/>
              </a:spcBef>
              <a:buClr>
                <a:srgbClr val="FFFFFF"/>
              </a:buClr>
              <a:buSzPts val="4100"/>
            </a:pPr>
            <a:r>
              <a:rPr lang="en-US" sz="2486" b="1">
                <a:solidFill>
                  <a:srgbClr val="FFFFFF"/>
                </a:solidFill>
                <a:latin typeface="Helvetica Neue"/>
                <a:ea typeface="Helvetica Neue"/>
                <a:cs typeface="Helvetica Neue"/>
                <a:sym typeface="Helvetica Neue"/>
              </a:rPr>
              <a:t>Engineering</a:t>
            </a:r>
            <a:endParaRPr sz="1092"/>
          </a:p>
        </p:txBody>
      </p:sp>
      <p:sp>
        <p:nvSpPr>
          <p:cNvPr id="107" name="Google Shape;107;p1"/>
          <p:cNvSpPr txBox="1"/>
          <p:nvPr/>
        </p:nvSpPr>
        <p:spPr>
          <a:xfrm>
            <a:off x="9774330" y="247404"/>
            <a:ext cx="2064908" cy="175820"/>
          </a:xfrm>
          <a:prstGeom prst="rect">
            <a:avLst/>
          </a:prstGeom>
          <a:noFill/>
          <a:ln>
            <a:noFill/>
          </a:ln>
        </p:spPr>
        <p:txBody>
          <a:bodyPr spcFirstLastPara="1" wrap="square" lIns="0" tIns="7686" rIns="0" bIns="0" anchor="t" anchorCtr="0">
            <a:spAutoFit/>
          </a:bodyPr>
          <a:lstStyle/>
          <a:p>
            <a:pPr marL="6738">
              <a:buClr>
                <a:srgbClr val="422C75"/>
              </a:buClr>
              <a:buSzPts val="1800"/>
            </a:pPr>
            <a:r>
              <a:rPr lang="en-US" sz="1092" i="1">
                <a:solidFill>
                  <a:srgbClr val="422C75"/>
                </a:solidFill>
                <a:latin typeface="Playfair Display"/>
                <a:ea typeface="Playfair Display"/>
                <a:cs typeface="Playfair Display"/>
                <a:sym typeface="Playfair Display"/>
              </a:rPr>
              <a:t>Go, change the world</a:t>
            </a:r>
            <a:endParaRPr sz="1092"/>
          </a:p>
        </p:txBody>
      </p:sp>
      <p:sp>
        <p:nvSpPr>
          <p:cNvPr id="108" name="Google Shape;108;p1"/>
          <p:cNvSpPr txBox="1"/>
          <p:nvPr/>
        </p:nvSpPr>
        <p:spPr>
          <a:xfrm>
            <a:off x="8477624" y="5812550"/>
            <a:ext cx="3361705" cy="465400"/>
          </a:xfrm>
          <a:prstGeom prst="rect">
            <a:avLst/>
          </a:prstGeom>
          <a:noFill/>
          <a:ln>
            <a:noFill/>
          </a:ln>
        </p:spPr>
        <p:txBody>
          <a:bodyPr spcFirstLastPara="1" wrap="square" lIns="91218" tIns="45601" rIns="91218" bIns="45601" anchor="t" anchorCtr="0">
            <a:spAutoFit/>
          </a:bodyPr>
          <a:lstStyle/>
          <a:p>
            <a:pPr>
              <a:buClr>
                <a:srgbClr val="C00000"/>
              </a:buClr>
              <a:buSzPts val="4000"/>
            </a:pPr>
            <a:r>
              <a:rPr lang="en-US" sz="2426" b="1" dirty="0">
                <a:solidFill>
                  <a:srgbClr val="C00000"/>
                </a:solidFill>
                <a:latin typeface="Calibri"/>
                <a:ea typeface="Calibri"/>
                <a:cs typeface="Calibri"/>
                <a:sym typeface="Calibri"/>
              </a:rPr>
              <a:t>Date: 19 - 12 -</a:t>
            </a:r>
            <a:r>
              <a:rPr lang="en-US" sz="2426" b="1" dirty="0">
                <a:solidFill>
                  <a:srgbClr val="FF0000"/>
                </a:solidFill>
                <a:latin typeface="Calibri"/>
                <a:ea typeface="Calibri"/>
                <a:cs typeface="Calibri"/>
                <a:sym typeface="Calibri"/>
              </a:rPr>
              <a:t> </a:t>
            </a:r>
            <a:r>
              <a:rPr lang="en-US" sz="2426" b="1" dirty="0">
                <a:solidFill>
                  <a:srgbClr val="C00000"/>
                </a:solidFill>
                <a:latin typeface="Calibri"/>
                <a:ea typeface="Calibri"/>
                <a:cs typeface="Calibri"/>
                <a:sym typeface="Calibri"/>
              </a:rPr>
              <a:t>2025</a:t>
            </a:r>
            <a:endParaRPr sz="1092" dirty="0"/>
          </a:p>
        </p:txBody>
      </p:sp>
      <p:sp>
        <p:nvSpPr>
          <p:cNvPr id="109" name="Google Shape;109;p1"/>
          <p:cNvSpPr txBox="1"/>
          <p:nvPr/>
        </p:nvSpPr>
        <p:spPr>
          <a:xfrm>
            <a:off x="846125" y="3584431"/>
            <a:ext cx="10961606" cy="342779"/>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0" tIns="4184" rIns="0" bIns="0" anchor="t" anchorCtr="0">
            <a:spAutoFit/>
          </a:bodyPr>
          <a:lstStyle/>
          <a:p>
            <a:pPr algn="ctr">
              <a:buClr>
                <a:schemeClr val="dk1"/>
              </a:buClr>
              <a:buSzPts val="1800"/>
            </a:pPr>
            <a:r>
              <a:rPr lang="en-US" sz="2200" dirty="0">
                <a:solidFill>
                  <a:schemeClr val="accent1"/>
                </a:solidFill>
              </a:rPr>
              <a:t>Gene Expression-Based Cancer Classification Using Machine Learning for Precision Oncology</a:t>
            </a:r>
            <a:endParaRPr sz="2200" b="1" dirty="0">
              <a:solidFill>
                <a:schemeClr val="accen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609793" y="274358"/>
            <a:ext cx="10972415" cy="1143642"/>
          </a:xfrm>
          <a:prstGeom prst="rect">
            <a:avLst/>
          </a:prstGeom>
          <a:noFill/>
          <a:ln>
            <a:noFill/>
          </a:ln>
        </p:spPr>
        <p:txBody>
          <a:bodyPr spcFirstLastPara="1" vert="horz" wrap="square" lIns="108576" tIns="54288" rIns="108576" bIns="54288" rtlCol="0" anchor="ctr" anchorCtr="0">
            <a:noAutofit/>
          </a:bodyPr>
          <a:lstStyle/>
          <a:p>
            <a:pPr algn="ctr">
              <a:lnSpc>
                <a:spcPct val="100000"/>
              </a:lnSpc>
              <a:spcBef>
                <a:spcPts val="0"/>
              </a:spcBef>
              <a:buClr>
                <a:srgbClr val="FF0000"/>
              </a:buClr>
              <a:buSzPts val="4500"/>
            </a:pPr>
            <a:br>
              <a:rPr lang="en-US" sz="2729">
                <a:solidFill>
                  <a:srgbClr val="FF0000"/>
                </a:solidFill>
                <a:latin typeface="Calibri"/>
                <a:ea typeface="Calibri"/>
                <a:cs typeface="Calibri"/>
                <a:sym typeface="Calibri"/>
              </a:rPr>
            </a:br>
            <a:r>
              <a:rPr lang="en-US" sz="2729">
                <a:solidFill>
                  <a:srgbClr val="FF0000"/>
                </a:solidFill>
                <a:latin typeface="Calibri"/>
                <a:ea typeface="Calibri"/>
                <a:cs typeface="Calibri"/>
                <a:sym typeface="Calibri"/>
              </a:rPr>
              <a:t>TEAM INTRODUCTION</a:t>
            </a:r>
            <a:endParaRPr/>
          </a:p>
        </p:txBody>
      </p:sp>
      <p:sp>
        <p:nvSpPr>
          <p:cNvPr id="115" name="Google Shape;115;p2"/>
          <p:cNvSpPr txBox="1"/>
          <p:nvPr/>
        </p:nvSpPr>
        <p:spPr>
          <a:xfrm>
            <a:off x="4165864" y="6356453"/>
            <a:ext cx="3860272" cy="364848"/>
          </a:xfrm>
          <a:prstGeom prst="rect">
            <a:avLst/>
          </a:prstGeom>
          <a:noFill/>
          <a:ln>
            <a:noFill/>
          </a:ln>
        </p:spPr>
        <p:txBody>
          <a:bodyPr spcFirstLastPara="1" wrap="square" lIns="108576" tIns="54288" rIns="108576" bIns="54288" anchor="ctr" anchorCtr="0">
            <a:noAutofit/>
          </a:bodyPr>
          <a:lstStyle/>
          <a:p>
            <a:pPr algn="ctr">
              <a:buClr>
                <a:srgbClr val="C00000"/>
              </a:buClr>
              <a:buSzPts val="2000"/>
            </a:pPr>
            <a:r>
              <a:rPr lang="en-US" sz="1213" b="1">
                <a:solidFill>
                  <a:srgbClr val="C00000"/>
                </a:solidFill>
                <a:latin typeface="Bookman Old Style"/>
                <a:ea typeface="Bookman Old Style"/>
                <a:cs typeface="Bookman Old Style"/>
                <a:sym typeface="Bookman Old Style"/>
              </a:rPr>
              <a:t>RV COLLEGE OF ENGINEERING</a:t>
            </a:r>
            <a:endParaRPr sz="1092"/>
          </a:p>
        </p:txBody>
      </p:sp>
      <p:sp>
        <p:nvSpPr>
          <p:cNvPr id="116" name="Google Shape;116;p2"/>
          <p:cNvSpPr txBox="1"/>
          <p:nvPr/>
        </p:nvSpPr>
        <p:spPr>
          <a:xfrm>
            <a:off x="8737543" y="6356453"/>
            <a:ext cx="2844664" cy="364848"/>
          </a:xfrm>
          <a:prstGeom prst="rect">
            <a:avLst/>
          </a:prstGeom>
          <a:noFill/>
          <a:ln>
            <a:noFill/>
          </a:ln>
        </p:spPr>
        <p:txBody>
          <a:bodyPr spcFirstLastPara="1" wrap="square" lIns="108576" tIns="54288" rIns="108576" bIns="54288" anchor="ctr" anchorCtr="0">
            <a:noAutofit/>
          </a:bodyPr>
          <a:lstStyle/>
          <a:p>
            <a:pPr algn="r">
              <a:buClr>
                <a:srgbClr val="002060"/>
              </a:buClr>
              <a:buSzPts val="2000"/>
            </a:pPr>
            <a:fld id="{00000000-1234-1234-1234-123412341234}" type="slidenum">
              <a:rPr lang="en-US" sz="1213" b="1">
                <a:solidFill>
                  <a:srgbClr val="002060"/>
                </a:solidFill>
                <a:latin typeface="Bookman Old Style"/>
                <a:ea typeface="Bookman Old Style"/>
                <a:cs typeface="Bookman Old Style"/>
                <a:sym typeface="Bookman Old Style"/>
              </a:rPr>
              <a:pPr algn="r">
                <a:buClr>
                  <a:srgbClr val="002060"/>
                </a:buClr>
                <a:buSzPts val="2000"/>
              </a:pPr>
              <a:t>2</a:t>
            </a:fld>
            <a:endParaRPr sz="1092"/>
          </a:p>
        </p:txBody>
      </p:sp>
      <p:graphicFrame>
        <p:nvGraphicFramePr>
          <p:cNvPr id="117" name="Google Shape;117;p2"/>
          <p:cNvGraphicFramePr/>
          <p:nvPr>
            <p:extLst>
              <p:ext uri="{D42A27DB-BD31-4B8C-83A1-F6EECF244321}">
                <p14:modId xmlns:p14="http://schemas.microsoft.com/office/powerpoint/2010/main" val="1546757969"/>
              </p:ext>
            </p:extLst>
          </p:nvPr>
        </p:nvGraphicFramePr>
        <p:xfrm>
          <a:off x="629322" y="2076022"/>
          <a:ext cx="10553101" cy="965087"/>
        </p:xfrm>
        <a:graphic>
          <a:graphicData uri="http://schemas.openxmlformats.org/drawingml/2006/table">
            <a:tbl>
              <a:tblPr>
                <a:noFill/>
              </a:tblPr>
              <a:tblGrid>
                <a:gridCol w="3104709">
                  <a:extLst>
                    <a:ext uri="{9D8B030D-6E8A-4147-A177-3AD203B41FA5}">
                      <a16:colId xmlns:a16="http://schemas.microsoft.com/office/drawing/2014/main" val="20000"/>
                    </a:ext>
                  </a:extLst>
                </a:gridCol>
                <a:gridCol w="3474783">
                  <a:extLst>
                    <a:ext uri="{9D8B030D-6E8A-4147-A177-3AD203B41FA5}">
                      <a16:colId xmlns:a16="http://schemas.microsoft.com/office/drawing/2014/main" val="20001"/>
                    </a:ext>
                  </a:extLst>
                </a:gridCol>
                <a:gridCol w="3973609">
                  <a:extLst>
                    <a:ext uri="{9D8B030D-6E8A-4147-A177-3AD203B41FA5}">
                      <a16:colId xmlns:a16="http://schemas.microsoft.com/office/drawing/2014/main" val="20002"/>
                    </a:ext>
                  </a:extLst>
                </a:gridCol>
              </a:tblGrid>
              <a:tr h="550188">
                <a:tc>
                  <a:txBody>
                    <a:bodyPr/>
                    <a:lstStyle/>
                    <a:p>
                      <a:pPr marL="0" marR="0" lvl="0" indent="0" algn="ctr" rtl="0">
                        <a:lnSpc>
                          <a:spcPct val="100000"/>
                        </a:lnSpc>
                        <a:spcBef>
                          <a:spcPts val="0"/>
                        </a:spcBef>
                        <a:spcAft>
                          <a:spcPts val="0"/>
                        </a:spcAft>
                        <a:buClr>
                          <a:schemeClr val="dk1"/>
                        </a:buClr>
                        <a:buSzPts val="3300"/>
                        <a:buFont typeface="Bookman Old Style"/>
                        <a:buNone/>
                      </a:pPr>
                      <a:r>
                        <a:rPr lang="en-US" sz="2000" b="0" i="0" u="none" strike="noStrike" cap="none" dirty="0">
                          <a:solidFill>
                            <a:schemeClr val="dk1"/>
                          </a:solidFill>
                          <a:latin typeface="Bookman Old Style"/>
                          <a:ea typeface="Bookman Old Style"/>
                          <a:cs typeface="Bookman Old Style"/>
                          <a:sym typeface="Bookman Old Style"/>
                        </a:rPr>
                        <a:t>USN</a:t>
                      </a:r>
                      <a:endParaRPr sz="1100" dirty="0"/>
                    </a:p>
                  </a:txBody>
                  <a:tcPr marL="91445" marR="91445" marT="45723" marB="45723">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3300"/>
                        <a:buFont typeface="Bookman Old Style"/>
                        <a:buNone/>
                      </a:pPr>
                      <a:r>
                        <a:rPr lang="en-US" sz="2000" b="0" i="0" u="none" strike="noStrike" cap="none">
                          <a:solidFill>
                            <a:schemeClr val="dk1"/>
                          </a:solidFill>
                          <a:latin typeface="Bookman Old Style"/>
                          <a:ea typeface="Bookman Old Style"/>
                          <a:cs typeface="Bookman Old Style"/>
                          <a:sym typeface="Bookman Old Style"/>
                        </a:rPr>
                        <a:t>Name</a:t>
                      </a:r>
                      <a:endParaRPr sz="1100"/>
                    </a:p>
                  </a:txBody>
                  <a:tcPr marL="91445" marR="91445" marT="45723" marB="45723">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3300"/>
                        <a:buFont typeface="Bookman Old Style"/>
                        <a:buNone/>
                      </a:pPr>
                      <a:r>
                        <a:rPr lang="en-US" sz="2000" b="0" i="0" u="none" strike="noStrike" cap="none">
                          <a:solidFill>
                            <a:schemeClr val="dk1"/>
                          </a:solidFill>
                          <a:latin typeface="Bookman Old Style"/>
                          <a:ea typeface="Bookman Old Style"/>
                          <a:cs typeface="Bookman Old Style"/>
                          <a:sym typeface="Bookman Old Style"/>
                        </a:rPr>
                        <a:t>Email Id</a:t>
                      </a:r>
                      <a:endParaRPr sz="1100"/>
                    </a:p>
                  </a:txBody>
                  <a:tcPr marL="91445" marR="91445" marT="45723" marB="45723">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14899">
                <a:tc>
                  <a:txBody>
                    <a:bodyPr/>
                    <a:lstStyle/>
                    <a:p>
                      <a:pPr marL="0" marR="0" lvl="0" indent="0" algn="l" rtl="0">
                        <a:lnSpc>
                          <a:spcPct val="100000"/>
                        </a:lnSpc>
                        <a:spcBef>
                          <a:spcPts val="0"/>
                        </a:spcBef>
                        <a:spcAft>
                          <a:spcPts val="0"/>
                        </a:spcAft>
                        <a:buClr>
                          <a:schemeClr val="dk1"/>
                        </a:buClr>
                        <a:buSzPts val="5800"/>
                        <a:buFont typeface="Calibri"/>
                        <a:buNone/>
                      </a:pPr>
                      <a:r>
                        <a:rPr lang="en-US" sz="1800" dirty="0">
                          <a:solidFill>
                            <a:schemeClr val="dk1"/>
                          </a:solidFill>
                        </a:rPr>
                        <a:t>1RV22CS187</a:t>
                      </a:r>
                      <a:endParaRPr sz="1800" dirty="0"/>
                    </a:p>
                  </a:txBody>
                  <a:tcPr marL="91445" marR="91445" marT="45723" marB="45723">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5800"/>
                        <a:buFont typeface="Calibri"/>
                        <a:buNone/>
                      </a:pPr>
                      <a:r>
                        <a:rPr lang="en-US" sz="1800">
                          <a:solidFill>
                            <a:schemeClr val="dk1"/>
                          </a:solidFill>
                        </a:rPr>
                        <a:t>Shreejay Pandey </a:t>
                      </a:r>
                      <a:endParaRPr sz="1800"/>
                    </a:p>
                  </a:txBody>
                  <a:tcPr marL="91445" marR="91445" marT="45723" marB="45723">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100" dirty="0">
                          <a:solidFill>
                            <a:schemeClr val="dk1"/>
                          </a:solidFill>
                          <a:latin typeface="Calibri"/>
                          <a:ea typeface="Calibri"/>
                          <a:cs typeface="Calibri"/>
                          <a:sym typeface="Calibri"/>
                        </a:rPr>
                        <a:t>shreejaypandey.cs22@rvce.edu.in</a:t>
                      </a:r>
                      <a:endParaRPr sz="2100" dirty="0">
                        <a:solidFill>
                          <a:schemeClr val="dk1"/>
                        </a:solidFill>
                        <a:latin typeface="Calibri"/>
                        <a:ea typeface="Calibri"/>
                        <a:cs typeface="Calibri"/>
                        <a:sym typeface="Calibri"/>
                      </a:endParaRPr>
                    </a:p>
                  </a:txBody>
                  <a:tcPr marL="91445" marR="91445" marT="45723" marB="45723">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18" name="Google Shape;118;p2"/>
          <p:cNvSpPr/>
          <p:nvPr/>
        </p:nvSpPr>
        <p:spPr>
          <a:xfrm>
            <a:off x="611718" y="722958"/>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19" name="Google Shape;119;p2"/>
          <p:cNvSpPr txBox="1"/>
          <p:nvPr/>
        </p:nvSpPr>
        <p:spPr>
          <a:xfrm>
            <a:off x="609793" y="182906"/>
            <a:ext cx="429347" cy="43030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20" name="Google Shape;120;p2"/>
          <p:cNvSpPr txBox="1"/>
          <p:nvPr/>
        </p:nvSpPr>
        <p:spPr>
          <a:xfrm>
            <a:off x="1105563" y="265695"/>
            <a:ext cx="831739" cy="339791"/>
          </a:xfrm>
          <a:prstGeom prst="rect">
            <a:avLst/>
          </a:prstGeom>
          <a:noFill/>
          <a:ln>
            <a:noFill/>
          </a:ln>
        </p:spPr>
        <p:txBody>
          <a:bodyPr spcFirstLastPara="1" wrap="square" lIns="0" tIns="10369" rIns="0" bIns="0" anchor="t" anchorCtr="0">
            <a:spAutoFit/>
          </a:bodyPr>
          <a:lstStyle/>
          <a:p>
            <a:pPr marL="6738">
              <a:lnSpc>
                <a:spcPct val="106250"/>
              </a:lnSpc>
              <a:buClr>
                <a:srgbClr val="231F20"/>
              </a:buClr>
              <a:buSzPts val="1600"/>
            </a:pPr>
            <a:r>
              <a:rPr lang="en-US" sz="970" b="1">
                <a:solidFill>
                  <a:srgbClr val="231F20"/>
                </a:solidFill>
                <a:latin typeface="Helvetica Neue"/>
                <a:ea typeface="Helvetica Neue"/>
                <a:cs typeface="Helvetica Neue"/>
                <a:sym typeface="Helvetica Neue"/>
              </a:rPr>
              <a:t>RV College of</a:t>
            </a:r>
            <a:endParaRPr sz="1092"/>
          </a:p>
          <a:p>
            <a:pPr marL="6738">
              <a:lnSpc>
                <a:spcPct val="106250"/>
              </a:lnSpc>
              <a:spcBef>
                <a:spcPts val="61"/>
              </a:spcBef>
              <a:buClr>
                <a:srgbClr val="231F20"/>
              </a:buClr>
              <a:buSzPts val="1600"/>
            </a:pPr>
            <a:r>
              <a:rPr lang="en-US" sz="970" b="1">
                <a:solidFill>
                  <a:srgbClr val="231F20"/>
                </a:solidFill>
                <a:latin typeface="Helvetica Neue"/>
                <a:ea typeface="Helvetica Neue"/>
                <a:cs typeface="Helvetica Neue"/>
                <a:sym typeface="Helvetica Neue"/>
              </a:rPr>
              <a:t>Engineering </a:t>
            </a:r>
            <a:endParaRPr sz="1092"/>
          </a:p>
        </p:txBody>
      </p:sp>
      <p:sp>
        <p:nvSpPr>
          <p:cNvPr id="121" name="Google Shape;121;p2"/>
          <p:cNvSpPr txBox="1"/>
          <p:nvPr/>
        </p:nvSpPr>
        <p:spPr>
          <a:xfrm>
            <a:off x="9607789" y="247404"/>
            <a:ext cx="2231449" cy="280134"/>
          </a:xfrm>
          <a:prstGeom prst="rect">
            <a:avLst/>
          </a:prstGeom>
          <a:noFill/>
          <a:ln>
            <a:noFill/>
          </a:ln>
        </p:spPr>
        <p:txBody>
          <a:bodyPr spcFirstLastPara="1" wrap="square" lIns="108576" tIns="54288" rIns="108576" bIns="54288" anchor="ctr" anchorCtr="0">
            <a:noAutofit/>
          </a:bodyPr>
          <a:lstStyle/>
          <a:p>
            <a:pPr algn="r">
              <a:buClr>
                <a:schemeClr val="dk1"/>
              </a:buClr>
              <a:buSzPts val="1800"/>
            </a:pPr>
            <a:r>
              <a:rPr lang="en-US" sz="1092">
                <a:solidFill>
                  <a:schemeClr val="dk1"/>
                </a:solidFill>
                <a:latin typeface="Playfair Display"/>
                <a:ea typeface="Playfair Display"/>
                <a:cs typeface="Playfair Display"/>
                <a:sym typeface="Playfair Display"/>
              </a:rPr>
              <a:t>Go, change the world</a:t>
            </a:r>
            <a:endParaRPr sz="1092"/>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213268bc302_0_3"/>
          <p:cNvSpPr/>
          <p:nvPr/>
        </p:nvSpPr>
        <p:spPr>
          <a:xfrm>
            <a:off x="856" y="36581"/>
            <a:ext cx="12194116" cy="6858030"/>
          </a:xfrm>
          <a:prstGeom prst="rect">
            <a:avLst/>
          </a:prstGeom>
          <a:solidFill>
            <a:schemeClr val="lt1">
              <a:alpha val="98820"/>
            </a:schemeClr>
          </a:solidFill>
          <a:ln w="76200" cap="flat" cmpd="sng">
            <a:solidFill>
              <a:srgbClr val="005893"/>
            </a:solidFill>
            <a:prstDash val="solid"/>
            <a:miter lim="800000"/>
            <a:headEnd type="none" w="sm" len="sm"/>
            <a:tailEnd type="none" w="sm" len="sm"/>
          </a:ln>
        </p:spPr>
        <p:txBody>
          <a:bodyPr spcFirstLastPara="1" wrap="square" lIns="91415" tIns="45692" rIns="91415" bIns="45692" anchor="ctr" anchorCtr="0">
            <a:noAutofit/>
          </a:bodyPr>
          <a:lstStyle/>
          <a:p>
            <a:pPr marL="177129" indent="-100117">
              <a:lnSpc>
                <a:spcPct val="99084"/>
              </a:lnSpc>
              <a:buClr>
                <a:schemeClr val="dk1"/>
              </a:buClr>
              <a:buSzPts val="1800"/>
            </a:pPr>
            <a:endParaRPr sz="1092" b="1">
              <a:solidFill>
                <a:schemeClr val="dk1"/>
              </a:solidFill>
              <a:latin typeface="Helvetica Neue"/>
              <a:ea typeface="Helvetica Neue"/>
              <a:cs typeface="Helvetica Neue"/>
              <a:sym typeface="Helvetica Neue"/>
            </a:endParaRPr>
          </a:p>
        </p:txBody>
      </p:sp>
      <p:sp>
        <p:nvSpPr>
          <p:cNvPr id="127" name="Google Shape;127;g213268bc302_0_3"/>
          <p:cNvSpPr/>
          <p:nvPr/>
        </p:nvSpPr>
        <p:spPr>
          <a:xfrm>
            <a:off x="610178" y="182906"/>
            <a:ext cx="430241" cy="43024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28" name="Google Shape;128;g213268bc302_0_3"/>
          <p:cNvSpPr/>
          <p:nvPr/>
        </p:nvSpPr>
        <p:spPr>
          <a:xfrm>
            <a:off x="612103" y="722959"/>
            <a:ext cx="11263116"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29" name="Google Shape;129;g213268bc302_0_3"/>
          <p:cNvSpPr txBox="1"/>
          <p:nvPr/>
        </p:nvSpPr>
        <p:spPr>
          <a:xfrm>
            <a:off x="1152118" y="249331"/>
            <a:ext cx="1201401" cy="357617"/>
          </a:xfrm>
          <a:prstGeom prst="rect">
            <a:avLst/>
          </a:prstGeom>
          <a:noFill/>
          <a:ln>
            <a:noFill/>
          </a:ln>
        </p:spPr>
        <p:txBody>
          <a:bodyPr spcFirstLastPara="1" wrap="square" lIns="0" tIns="10369" rIns="0" bIns="0" anchor="t" anchorCtr="0">
            <a:spAutoFit/>
          </a:bodyPr>
          <a:lstStyle/>
          <a:p>
            <a:pPr marL="7701">
              <a:lnSpc>
                <a:spcPct val="111546"/>
              </a:lnSpc>
            </a:pPr>
            <a:r>
              <a:rPr lang="en-US" sz="970" b="1">
                <a:solidFill>
                  <a:srgbClr val="231F20"/>
                </a:solidFill>
                <a:latin typeface="Helvetica Neue"/>
                <a:ea typeface="Helvetica Neue"/>
                <a:cs typeface="Helvetica Neue"/>
                <a:sym typeface="Helvetica Neue"/>
              </a:rPr>
              <a:t>RV College of </a:t>
            </a:r>
            <a:endParaRPr sz="1395"/>
          </a:p>
          <a:p>
            <a:pPr marL="7701">
              <a:lnSpc>
                <a:spcPct val="111546"/>
              </a:lnSpc>
              <a:spcBef>
                <a:spcPts val="61"/>
              </a:spcBef>
            </a:pPr>
            <a:r>
              <a:rPr lang="en-US" sz="970" b="1">
                <a:solidFill>
                  <a:srgbClr val="231F20"/>
                </a:solidFill>
                <a:latin typeface="Helvetica Neue"/>
                <a:ea typeface="Helvetica Neue"/>
                <a:cs typeface="Helvetica Neue"/>
                <a:sym typeface="Helvetica Neue"/>
              </a:rPr>
              <a:t>Engineering</a:t>
            </a:r>
            <a:r>
              <a:rPr lang="en-US" sz="970" b="1">
                <a:solidFill>
                  <a:srgbClr val="231F20"/>
                </a:solidFill>
                <a:latin typeface="Times New Roman"/>
                <a:ea typeface="Times New Roman"/>
                <a:cs typeface="Times New Roman"/>
                <a:sym typeface="Times New Roman"/>
              </a:rPr>
              <a:t>®</a:t>
            </a:r>
            <a:endParaRPr sz="970" b="1">
              <a:solidFill>
                <a:schemeClr val="dk1"/>
              </a:solidFill>
              <a:latin typeface="Helvetica Neue"/>
              <a:ea typeface="Helvetica Neue"/>
              <a:cs typeface="Helvetica Neue"/>
              <a:sym typeface="Helvetica Neue"/>
            </a:endParaRPr>
          </a:p>
        </p:txBody>
      </p:sp>
      <p:sp>
        <p:nvSpPr>
          <p:cNvPr id="130" name="Google Shape;130;g213268bc302_0_3"/>
          <p:cNvSpPr txBox="1"/>
          <p:nvPr/>
        </p:nvSpPr>
        <p:spPr>
          <a:xfrm>
            <a:off x="1040466" y="891127"/>
            <a:ext cx="4759216" cy="596261"/>
          </a:xfrm>
          <a:prstGeom prst="rect">
            <a:avLst/>
          </a:prstGeom>
          <a:noFill/>
          <a:ln>
            <a:noFill/>
          </a:ln>
        </p:spPr>
        <p:txBody>
          <a:bodyPr spcFirstLastPara="1" wrap="square" lIns="91415" tIns="45692" rIns="91415" bIns="45692" anchor="t" anchorCtr="0">
            <a:spAutoFit/>
          </a:bodyPr>
          <a:lstStyle/>
          <a:p>
            <a:r>
              <a:rPr lang="en-US" sz="3275" b="1">
                <a:solidFill>
                  <a:schemeClr val="dk2"/>
                </a:solidFill>
                <a:latin typeface="Times New Roman"/>
                <a:ea typeface="Times New Roman"/>
                <a:cs typeface="Times New Roman"/>
                <a:sym typeface="Times New Roman"/>
              </a:rPr>
              <a:t>Table of Contents</a:t>
            </a:r>
            <a:endParaRPr sz="1395"/>
          </a:p>
        </p:txBody>
      </p:sp>
      <p:sp>
        <p:nvSpPr>
          <p:cNvPr id="131" name="Google Shape;131;g213268bc302_0_3"/>
          <p:cNvSpPr txBox="1"/>
          <p:nvPr/>
        </p:nvSpPr>
        <p:spPr>
          <a:xfrm>
            <a:off x="1040427" y="1487454"/>
            <a:ext cx="9055991" cy="6997500"/>
          </a:xfrm>
          <a:prstGeom prst="rect">
            <a:avLst/>
          </a:prstGeom>
          <a:noFill/>
          <a:ln>
            <a:noFill/>
          </a:ln>
        </p:spPr>
        <p:txBody>
          <a:bodyPr spcFirstLastPara="1" wrap="square" lIns="91415" tIns="45692" rIns="91415" bIns="45692" anchor="t" anchorCtr="0">
            <a:spAutoFit/>
          </a:bodyPr>
          <a:lstStyle/>
          <a:p>
            <a:pPr marL="346558" indent="-346558">
              <a:lnSpc>
                <a:spcPct val="150000"/>
              </a:lnSpc>
              <a:buClr>
                <a:schemeClr val="dk1"/>
              </a:buClr>
              <a:buSzPts val="4400"/>
              <a:buChar char="•"/>
            </a:pPr>
            <a:r>
              <a:rPr lang="en-US" sz="2668">
                <a:solidFill>
                  <a:schemeClr val="dk1"/>
                </a:solidFill>
                <a:latin typeface="Times New Roman"/>
                <a:ea typeface="Times New Roman"/>
                <a:cs typeface="Times New Roman"/>
                <a:sym typeface="Times New Roman"/>
              </a:rPr>
              <a:t>Introduction</a:t>
            </a:r>
            <a:endParaRPr sz="1395">
              <a:solidFill>
                <a:schemeClr val="dk1"/>
              </a:solidFill>
            </a:endParaRPr>
          </a:p>
          <a:p>
            <a:pPr marL="346558" indent="-346558">
              <a:lnSpc>
                <a:spcPct val="150000"/>
              </a:lnSpc>
              <a:buClr>
                <a:schemeClr val="dk1"/>
              </a:buClr>
              <a:buSzPts val="4400"/>
              <a:buChar char="•"/>
            </a:pPr>
            <a:r>
              <a:rPr lang="en-US" sz="2668">
                <a:solidFill>
                  <a:schemeClr val="dk1"/>
                </a:solidFill>
                <a:latin typeface="Times New Roman"/>
                <a:ea typeface="Times New Roman"/>
                <a:cs typeface="Times New Roman"/>
                <a:sym typeface="Times New Roman"/>
              </a:rPr>
              <a:t>Problem statement </a:t>
            </a:r>
            <a:endParaRPr sz="1395">
              <a:solidFill>
                <a:schemeClr val="dk1"/>
              </a:solidFill>
            </a:endParaRPr>
          </a:p>
          <a:p>
            <a:pPr marL="346558" indent="-346558">
              <a:lnSpc>
                <a:spcPct val="150000"/>
              </a:lnSpc>
              <a:buClr>
                <a:schemeClr val="dk1"/>
              </a:buClr>
              <a:buSzPts val="4400"/>
              <a:buChar char="•"/>
            </a:pPr>
            <a:r>
              <a:rPr lang="en-US" sz="2668">
                <a:solidFill>
                  <a:schemeClr val="dk1"/>
                </a:solidFill>
                <a:latin typeface="Times New Roman"/>
                <a:ea typeface="Times New Roman"/>
                <a:cs typeface="Times New Roman"/>
                <a:sym typeface="Times New Roman"/>
              </a:rPr>
              <a:t>Methodology</a:t>
            </a:r>
            <a:endParaRPr sz="1395">
              <a:solidFill>
                <a:schemeClr val="dk1"/>
              </a:solidFill>
            </a:endParaRPr>
          </a:p>
          <a:p>
            <a:pPr marL="346558" indent="-346558">
              <a:lnSpc>
                <a:spcPct val="150000"/>
              </a:lnSpc>
              <a:buClr>
                <a:schemeClr val="dk1"/>
              </a:buClr>
              <a:buSzPts val="4400"/>
              <a:buChar char="•"/>
            </a:pPr>
            <a:r>
              <a:rPr lang="en-US" sz="2668">
                <a:solidFill>
                  <a:schemeClr val="dk1"/>
                </a:solidFill>
                <a:latin typeface="Times New Roman"/>
                <a:ea typeface="Times New Roman"/>
                <a:cs typeface="Times New Roman"/>
                <a:sym typeface="Times New Roman"/>
              </a:rPr>
              <a:t>Literature review</a:t>
            </a:r>
            <a:endParaRPr sz="1395">
              <a:solidFill>
                <a:schemeClr val="dk1"/>
              </a:solidFill>
            </a:endParaRPr>
          </a:p>
          <a:p>
            <a:pPr marL="346558" indent="-346558">
              <a:lnSpc>
                <a:spcPct val="150000"/>
              </a:lnSpc>
              <a:buClr>
                <a:schemeClr val="dk1"/>
              </a:buClr>
              <a:buSzPts val="4400"/>
              <a:buChar char="•"/>
            </a:pPr>
            <a:r>
              <a:rPr lang="en-US" sz="2668">
                <a:solidFill>
                  <a:schemeClr val="dk1"/>
                </a:solidFill>
                <a:latin typeface="Times New Roman"/>
                <a:ea typeface="Times New Roman"/>
                <a:cs typeface="Times New Roman"/>
                <a:sym typeface="Times New Roman"/>
              </a:rPr>
              <a:t>Applications &amp; Properties</a:t>
            </a:r>
            <a:endParaRPr sz="2668">
              <a:solidFill>
                <a:schemeClr val="dk1"/>
              </a:solidFill>
              <a:latin typeface="Times New Roman"/>
              <a:ea typeface="Times New Roman"/>
              <a:cs typeface="Times New Roman"/>
              <a:sym typeface="Times New Roman"/>
            </a:endParaRPr>
          </a:p>
          <a:p>
            <a:pPr marL="346558" indent="-346558">
              <a:lnSpc>
                <a:spcPct val="150000"/>
              </a:lnSpc>
              <a:buClr>
                <a:schemeClr val="dk1"/>
              </a:buClr>
              <a:buSzPts val="4400"/>
              <a:buFont typeface="Times New Roman"/>
              <a:buChar char="•"/>
            </a:pPr>
            <a:r>
              <a:rPr lang="en-US" sz="2668">
                <a:solidFill>
                  <a:schemeClr val="dk1"/>
                </a:solidFill>
                <a:latin typeface="Times New Roman"/>
                <a:ea typeface="Times New Roman"/>
                <a:cs typeface="Times New Roman"/>
                <a:sym typeface="Times New Roman"/>
              </a:rPr>
              <a:t>Conclusion</a:t>
            </a:r>
            <a:endParaRPr sz="2668">
              <a:solidFill>
                <a:schemeClr val="dk1"/>
              </a:solidFill>
              <a:latin typeface="Times New Roman"/>
              <a:ea typeface="Times New Roman"/>
              <a:cs typeface="Times New Roman"/>
              <a:sym typeface="Times New Roman"/>
            </a:endParaRPr>
          </a:p>
          <a:p>
            <a:pPr marL="346558" indent="-346558">
              <a:lnSpc>
                <a:spcPct val="150000"/>
              </a:lnSpc>
              <a:buClr>
                <a:schemeClr val="dk1"/>
              </a:buClr>
              <a:buSzPts val="4400"/>
              <a:buFont typeface="Times New Roman"/>
              <a:buChar char="•"/>
            </a:pPr>
            <a:r>
              <a:rPr lang="en-US" sz="2668">
                <a:solidFill>
                  <a:schemeClr val="dk1"/>
                </a:solidFill>
                <a:latin typeface="Times New Roman"/>
                <a:ea typeface="Times New Roman"/>
                <a:cs typeface="Times New Roman"/>
                <a:sym typeface="Times New Roman"/>
              </a:rPr>
              <a:t>References</a:t>
            </a:r>
            <a:endParaRPr sz="2668">
              <a:solidFill>
                <a:schemeClr val="dk1"/>
              </a:solidFill>
              <a:latin typeface="Times New Roman"/>
              <a:ea typeface="Times New Roman"/>
              <a:cs typeface="Times New Roman"/>
              <a:sym typeface="Times New Roman"/>
            </a:endParaRPr>
          </a:p>
          <a:p>
            <a:pPr marL="346558" indent="-346558">
              <a:lnSpc>
                <a:spcPct val="150000"/>
              </a:lnSpc>
              <a:buClr>
                <a:schemeClr val="dk1"/>
              </a:buClr>
              <a:buSzPts val="4400"/>
              <a:buFont typeface="Times New Roman"/>
              <a:buChar char="•"/>
            </a:pPr>
            <a:r>
              <a:rPr lang="en-US" sz="2668">
                <a:solidFill>
                  <a:schemeClr val="dk1"/>
                </a:solidFill>
                <a:latin typeface="Times New Roman"/>
                <a:ea typeface="Times New Roman"/>
                <a:cs typeface="Times New Roman"/>
                <a:sym typeface="Times New Roman"/>
              </a:rPr>
              <a:t>Subject Coverage</a:t>
            </a:r>
            <a:endParaRPr sz="2668">
              <a:solidFill>
                <a:schemeClr val="dk1"/>
              </a:solidFill>
              <a:latin typeface="Times New Roman"/>
              <a:ea typeface="Times New Roman"/>
              <a:cs typeface="Times New Roman"/>
              <a:sym typeface="Times New Roman"/>
            </a:endParaRPr>
          </a:p>
          <a:p>
            <a:pPr marL="346558" indent="-346558">
              <a:lnSpc>
                <a:spcPct val="150000"/>
              </a:lnSpc>
              <a:buClr>
                <a:schemeClr val="dk1"/>
              </a:buClr>
              <a:buSzPts val="4400"/>
              <a:buFont typeface="Times New Roman"/>
              <a:buChar char="•"/>
            </a:pPr>
            <a:r>
              <a:rPr lang="en-US" sz="2668">
                <a:solidFill>
                  <a:schemeClr val="dk1"/>
                </a:solidFill>
                <a:latin typeface="Times New Roman"/>
                <a:ea typeface="Times New Roman"/>
                <a:cs typeface="Times New Roman"/>
                <a:sym typeface="Times New Roman"/>
              </a:rPr>
              <a:t>Phase II plan</a:t>
            </a:r>
            <a:endParaRPr sz="2668">
              <a:solidFill>
                <a:schemeClr val="dk1"/>
              </a:solidFill>
              <a:latin typeface="Times New Roman"/>
              <a:ea typeface="Times New Roman"/>
              <a:cs typeface="Times New Roman"/>
              <a:sym typeface="Times New Roman"/>
            </a:endParaRPr>
          </a:p>
          <a:p>
            <a:pPr>
              <a:lnSpc>
                <a:spcPct val="150000"/>
              </a:lnSpc>
            </a:pPr>
            <a:endParaRPr sz="2668">
              <a:solidFill>
                <a:schemeClr val="dk1"/>
              </a:solidFill>
              <a:latin typeface="Times New Roman"/>
              <a:ea typeface="Times New Roman"/>
              <a:cs typeface="Times New Roman"/>
              <a:sym typeface="Times New Roman"/>
            </a:endParaRPr>
          </a:p>
          <a:p>
            <a:pPr>
              <a:buClr>
                <a:schemeClr val="dk1"/>
              </a:buClr>
            </a:pPr>
            <a:endParaRPr sz="2668">
              <a:solidFill>
                <a:schemeClr val="dk1"/>
              </a:solidFill>
              <a:latin typeface="Calibri"/>
              <a:ea typeface="Calibri"/>
              <a:cs typeface="Calibri"/>
              <a:sym typeface="Calibri"/>
            </a:endParaRPr>
          </a:p>
          <a:p>
            <a:endParaRPr sz="2183">
              <a:solidFill>
                <a:schemeClr val="dk1"/>
              </a:solidFill>
              <a:latin typeface="Calibri"/>
              <a:ea typeface="Calibri"/>
              <a:cs typeface="Calibri"/>
              <a:sym typeface="Calibri"/>
            </a:endParaRPr>
          </a:p>
        </p:txBody>
      </p:sp>
      <p:sp>
        <p:nvSpPr>
          <p:cNvPr id="132" name="Google Shape;132;g213268bc302_0_3"/>
          <p:cNvSpPr txBox="1"/>
          <p:nvPr/>
        </p:nvSpPr>
        <p:spPr>
          <a:xfrm>
            <a:off x="9203744" y="230901"/>
            <a:ext cx="2642756" cy="372225"/>
          </a:xfrm>
          <a:prstGeom prst="rect">
            <a:avLst/>
          </a:prstGeom>
          <a:noFill/>
          <a:ln>
            <a:noFill/>
          </a:ln>
        </p:spPr>
        <p:txBody>
          <a:bodyPr spcFirstLastPara="1" wrap="square" lIns="91415" tIns="45692" rIns="91415" bIns="45692" anchor="t" anchorCtr="0">
            <a:spAutoFit/>
          </a:bodyPr>
          <a:lstStyle/>
          <a:p>
            <a:pPr algn="r"/>
            <a:r>
              <a:rPr lang="en-US" sz="1819" b="1" i="1">
                <a:solidFill>
                  <a:srgbClr val="1F3864"/>
                </a:solidFill>
                <a:latin typeface="Playfair Display"/>
                <a:ea typeface="Playfair Display"/>
                <a:cs typeface="Playfair Display"/>
                <a:sym typeface="Playfair Display"/>
              </a:rPr>
              <a:t>Go, change the world </a:t>
            </a:r>
            <a:endParaRPr sz="1395"/>
          </a:p>
        </p:txBody>
      </p:sp>
      <p:sp>
        <p:nvSpPr>
          <p:cNvPr id="133" name="Google Shape;133;g213268bc302_0_3"/>
          <p:cNvSpPr txBox="1"/>
          <p:nvPr/>
        </p:nvSpPr>
        <p:spPr>
          <a:xfrm>
            <a:off x="2456732" y="70358"/>
            <a:ext cx="6830197" cy="652548"/>
          </a:xfrm>
          <a:prstGeom prst="rect">
            <a:avLst/>
          </a:prstGeom>
          <a:solidFill>
            <a:srgbClr val="7F6000"/>
          </a:solidFill>
          <a:ln w="9525" cap="flat" cmpd="sng">
            <a:solidFill>
              <a:schemeClr val="lt1"/>
            </a:solidFill>
            <a:prstDash val="solid"/>
            <a:round/>
            <a:headEnd type="none" w="sm" len="sm"/>
            <a:tailEnd type="none" w="sm" len="sm"/>
          </a:ln>
        </p:spPr>
        <p:txBody>
          <a:bodyPr spcFirstLastPara="1" wrap="square" lIns="91415" tIns="45692" rIns="91415" bIns="45692" anchor="t" anchorCtr="0">
            <a:noAutofit/>
          </a:bodyPr>
          <a:lstStyle/>
          <a:p>
            <a:pPr algn="ctr">
              <a:lnSpc>
                <a:spcPct val="90000"/>
              </a:lnSpc>
            </a:pPr>
            <a:r>
              <a:rPr lang="en-US" sz="4002" b="1">
                <a:solidFill>
                  <a:schemeClr val="lt1"/>
                </a:solidFill>
                <a:latin typeface="Calibri"/>
                <a:ea typeface="Calibri"/>
                <a:cs typeface="Calibri"/>
                <a:sym typeface="Calibri"/>
              </a:rPr>
              <a:t>Presentation Outline</a:t>
            </a:r>
            <a:endParaRPr sz="139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p:nvPr/>
        </p:nvSpPr>
        <p:spPr>
          <a:xfrm>
            <a:off x="4038793" y="6356453"/>
            <a:ext cx="4114415" cy="364848"/>
          </a:xfrm>
          <a:prstGeom prst="rect">
            <a:avLst/>
          </a:prstGeom>
          <a:noFill/>
          <a:ln>
            <a:noFill/>
          </a:ln>
        </p:spPr>
        <p:txBody>
          <a:bodyPr spcFirstLastPara="1" wrap="square" lIns="91354" tIns="45677" rIns="91354" bIns="45677" anchor="ctr" anchorCtr="0">
            <a:noAutofit/>
          </a:bodyPr>
          <a:lstStyle/>
          <a:p>
            <a:pPr algn="ctr">
              <a:buClr>
                <a:srgbClr val="C00000"/>
              </a:buClr>
              <a:buSzPts val="2000"/>
            </a:pPr>
            <a:r>
              <a:rPr lang="en-US" sz="1213" b="1">
                <a:solidFill>
                  <a:srgbClr val="C00000"/>
                </a:solidFill>
                <a:latin typeface="Bookman Old Style"/>
                <a:ea typeface="Bookman Old Style"/>
                <a:cs typeface="Bookman Old Style"/>
                <a:sym typeface="Bookman Old Style"/>
              </a:rPr>
              <a:t>RV COLLEGE OF ENGINEERING</a:t>
            </a:r>
            <a:endParaRPr sz="1092"/>
          </a:p>
        </p:txBody>
      </p:sp>
      <p:sp>
        <p:nvSpPr>
          <p:cNvPr id="139" name="Google Shape;139;p5"/>
          <p:cNvSpPr txBox="1"/>
          <p:nvPr/>
        </p:nvSpPr>
        <p:spPr>
          <a:xfrm>
            <a:off x="9273745" y="6346827"/>
            <a:ext cx="2742622" cy="365811"/>
          </a:xfrm>
          <a:prstGeom prst="rect">
            <a:avLst/>
          </a:prstGeom>
          <a:noFill/>
          <a:ln>
            <a:noFill/>
          </a:ln>
        </p:spPr>
        <p:txBody>
          <a:bodyPr spcFirstLastPara="1" wrap="square" lIns="91354" tIns="45677" rIns="91354" bIns="45677" anchor="ctr" anchorCtr="0">
            <a:noAutofit/>
          </a:bodyPr>
          <a:lstStyle/>
          <a:p>
            <a:pPr algn="r">
              <a:buClr>
                <a:srgbClr val="002060"/>
              </a:buClr>
              <a:buSzPts val="2000"/>
            </a:pPr>
            <a:fld id="{00000000-1234-1234-1234-123412341234}" type="slidenum">
              <a:rPr lang="en-US" sz="1213" b="1">
                <a:solidFill>
                  <a:srgbClr val="002060"/>
                </a:solidFill>
                <a:latin typeface="Bookman Old Style"/>
                <a:ea typeface="Bookman Old Style"/>
                <a:cs typeface="Bookman Old Style"/>
                <a:sym typeface="Bookman Old Style"/>
              </a:rPr>
              <a:pPr algn="r">
                <a:buClr>
                  <a:srgbClr val="002060"/>
                </a:buClr>
                <a:buSzPts val="2000"/>
              </a:pPr>
              <a:t>4</a:t>
            </a:fld>
            <a:endParaRPr sz="1092"/>
          </a:p>
        </p:txBody>
      </p:sp>
      <p:sp>
        <p:nvSpPr>
          <p:cNvPr id="140" name="Google Shape;140;p5"/>
          <p:cNvSpPr txBox="1">
            <a:spLocks noGrp="1"/>
          </p:cNvSpPr>
          <p:nvPr>
            <p:ph type="title"/>
          </p:nvPr>
        </p:nvSpPr>
        <p:spPr>
          <a:xfrm>
            <a:off x="1204027" y="0"/>
            <a:ext cx="8533880" cy="6520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p>
            <a:pPr algn="ctr">
              <a:spcBef>
                <a:spcPts val="0"/>
              </a:spcBef>
              <a:buClr>
                <a:srgbClr val="C00000"/>
              </a:buClr>
              <a:buSzPts val="5900"/>
            </a:pPr>
            <a:r>
              <a:rPr lang="en-US"/>
              <a:t>Introduction</a:t>
            </a:r>
            <a:r>
              <a:rPr lang="en-US" sz="3578" b="1">
                <a:solidFill>
                  <a:srgbClr val="C00000"/>
                </a:solidFill>
                <a:latin typeface="Bookman Old Style"/>
                <a:ea typeface="Bookman Old Style"/>
                <a:cs typeface="Bookman Old Style"/>
                <a:sym typeface="Bookman Old Style"/>
              </a:rPr>
              <a:t> </a:t>
            </a:r>
            <a:endParaRPr/>
          </a:p>
        </p:txBody>
      </p:sp>
      <p:sp>
        <p:nvSpPr>
          <p:cNvPr id="142" name="Google Shape;142;p5"/>
          <p:cNvSpPr txBox="1"/>
          <p:nvPr/>
        </p:nvSpPr>
        <p:spPr>
          <a:xfrm>
            <a:off x="124558" y="1097434"/>
            <a:ext cx="9267564" cy="3158951"/>
          </a:xfrm>
          <a:prstGeom prst="rect">
            <a:avLst/>
          </a:prstGeom>
          <a:noFill/>
          <a:ln>
            <a:noFill/>
          </a:ln>
        </p:spPr>
        <p:txBody>
          <a:bodyPr spcFirstLastPara="1" wrap="square" lIns="55440" tIns="55440" rIns="55440" bIns="55440" anchor="t" anchorCtr="0">
            <a:spAutoFit/>
          </a:bodyPr>
          <a:lstStyle/>
          <a:p>
            <a:r>
              <a:rPr lang="en-US" sz="2200" dirty="0"/>
              <a:t>Cancer classification at the molecular level is a critical requirement for precision oncology, as tumors that appear similar histologically may behave very differently at the genetic level. Gene expression profiling enables simultaneous measurement of thousands of genes, providing rich molecular signatures that can distinguish cancer subtypes. However, the extreme dimensionality of transcriptomic data, combined with limited patient samples, makes direct analysis challenging and computationally expensive.</a:t>
            </a:r>
          </a:p>
          <a:p>
            <a:endParaRPr lang="en-US" sz="2200" dirty="0">
              <a:latin typeface="Calibri"/>
              <a:ea typeface="Calibri"/>
              <a:cs typeface="Calibri"/>
              <a:sym typeface="Calibri"/>
            </a:endParaRPr>
          </a:p>
          <a:p>
            <a:endParaRPr sz="2200" dirty="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1174875" y="60647"/>
            <a:ext cx="8550359" cy="638244"/>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248" tIns="45617" rIns="91248" bIns="45617" rtlCol="0" anchor="ctr" anchorCtr="0">
            <a:noAutofit/>
          </a:bodyPr>
          <a:lstStyle/>
          <a:p>
            <a:pPr algn="ctr">
              <a:spcBef>
                <a:spcPts val="0"/>
              </a:spcBef>
              <a:buClr>
                <a:srgbClr val="C00000"/>
              </a:buClr>
              <a:buSzPts val="5300"/>
            </a:pPr>
            <a:r>
              <a:rPr lang="en-US" sz="3214" b="1">
                <a:solidFill>
                  <a:srgbClr val="C00000"/>
                </a:solidFill>
                <a:latin typeface="Bookman Old Style"/>
                <a:ea typeface="Bookman Old Style"/>
                <a:cs typeface="Bookman Old Style"/>
                <a:sym typeface="Bookman Old Style"/>
              </a:rPr>
              <a:t>Problem</a:t>
            </a:r>
            <a:r>
              <a:rPr lang="en-US" sz="3214" b="1">
                <a:solidFill>
                  <a:srgbClr val="FF0000"/>
                </a:solidFill>
                <a:latin typeface="Bookman Old Style"/>
                <a:ea typeface="Bookman Old Style"/>
                <a:cs typeface="Bookman Old Style"/>
                <a:sym typeface="Bookman Old Style"/>
              </a:rPr>
              <a:t> </a:t>
            </a:r>
            <a:r>
              <a:rPr lang="en-US" sz="3214" b="1">
                <a:solidFill>
                  <a:srgbClr val="C00000"/>
                </a:solidFill>
                <a:latin typeface="Bookman Old Style"/>
                <a:ea typeface="Bookman Old Style"/>
                <a:cs typeface="Bookman Old Style"/>
                <a:sym typeface="Bookman Old Style"/>
              </a:rPr>
              <a:t>Statement</a:t>
            </a:r>
            <a:endParaRPr/>
          </a:p>
        </p:txBody>
      </p:sp>
      <p:sp>
        <p:nvSpPr>
          <p:cNvPr id="148" name="Google Shape;148;p8"/>
          <p:cNvSpPr txBox="1">
            <a:spLocks noGrp="1"/>
          </p:cNvSpPr>
          <p:nvPr>
            <p:ph type="body" idx="1"/>
          </p:nvPr>
        </p:nvSpPr>
        <p:spPr>
          <a:xfrm>
            <a:off x="175632" y="798046"/>
            <a:ext cx="11840736" cy="5379352"/>
          </a:xfrm>
          <a:prstGeom prst="rect">
            <a:avLst/>
          </a:prstGeom>
          <a:noFill/>
          <a:ln>
            <a:noFill/>
          </a:ln>
        </p:spPr>
        <p:txBody>
          <a:bodyPr spcFirstLastPara="1" vert="horz" wrap="square" lIns="91248" tIns="45617" rIns="91248" bIns="45617" rtlCol="0" anchor="t" anchorCtr="0">
            <a:noAutofit/>
          </a:bodyPr>
          <a:lstStyle/>
          <a:p>
            <a:pPr marL="0" indent="0">
              <a:spcBef>
                <a:spcPts val="0"/>
              </a:spcBef>
              <a:buClr>
                <a:schemeClr val="dk1"/>
              </a:buClr>
              <a:buSzPts val="4500"/>
              <a:buNone/>
            </a:pPr>
            <a:endParaRPr sz="2122" dirty="0">
              <a:solidFill>
                <a:schemeClr val="dk1"/>
              </a:solidFill>
              <a:latin typeface="Bookman Old Style"/>
              <a:ea typeface="Bookman Old Style"/>
              <a:cs typeface="Bookman Old Style"/>
              <a:sym typeface="Bookman Old Style"/>
            </a:endParaRPr>
          </a:p>
          <a:p>
            <a:pPr marL="0" indent="0">
              <a:spcBef>
                <a:spcPts val="970"/>
              </a:spcBef>
              <a:buClr>
                <a:schemeClr val="dk1"/>
              </a:buClr>
              <a:buSzPts val="4500"/>
              <a:buNone/>
            </a:pPr>
            <a:endParaRPr sz="2122" dirty="0">
              <a:solidFill>
                <a:schemeClr val="dk1"/>
              </a:solidFill>
              <a:latin typeface="Bookman Old Style"/>
              <a:ea typeface="Bookman Old Style"/>
              <a:cs typeface="Bookman Old Style"/>
              <a:sym typeface="Bookman Old Style"/>
            </a:endParaRPr>
          </a:p>
          <a:p>
            <a:pPr marL="0" indent="0">
              <a:spcBef>
                <a:spcPts val="970"/>
              </a:spcBef>
              <a:buClr>
                <a:schemeClr val="dk1"/>
              </a:buClr>
              <a:buSzPts val="4500"/>
              <a:buNone/>
            </a:pPr>
            <a:endParaRPr sz="2547" dirty="0">
              <a:solidFill>
                <a:schemeClr val="dk1"/>
              </a:solidFill>
              <a:latin typeface="Bookman Old Style"/>
              <a:ea typeface="Bookman Old Style"/>
              <a:cs typeface="Bookman Old Style"/>
              <a:sym typeface="Bookman Old Style"/>
            </a:endParaRPr>
          </a:p>
        </p:txBody>
      </p:sp>
      <p:sp>
        <p:nvSpPr>
          <p:cNvPr id="149" name="Google Shape;149;p8"/>
          <p:cNvSpPr txBox="1"/>
          <p:nvPr/>
        </p:nvSpPr>
        <p:spPr>
          <a:xfrm>
            <a:off x="4038793" y="6356453"/>
            <a:ext cx="4114415" cy="364848"/>
          </a:xfrm>
          <a:prstGeom prst="rect">
            <a:avLst/>
          </a:prstGeom>
          <a:noFill/>
          <a:ln>
            <a:noFill/>
          </a:ln>
        </p:spPr>
        <p:txBody>
          <a:bodyPr spcFirstLastPara="1" wrap="square" lIns="91248" tIns="45617" rIns="91248" bIns="45617" anchor="ctr" anchorCtr="0">
            <a:noAutofit/>
          </a:bodyPr>
          <a:lstStyle/>
          <a:p>
            <a:pPr algn="ctr">
              <a:buClr>
                <a:srgbClr val="C00000"/>
              </a:buClr>
              <a:buSzPts val="2000"/>
            </a:pPr>
            <a:r>
              <a:rPr lang="en-US" sz="1213" b="1">
                <a:solidFill>
                  <a:srgbClr val="C00000"/>
                </a:solidFill>
                <a:latin typeface="Bookman Old Style"/>
                <a:ea typeface="Bookman Old Style"/>
                <a:cs typeface="Bookman Old Style"/>
                <a:sym typeface="Bookman Old Style"/>
              </a:rPr>
              <a:t>RV COLLEGE OF ENGINEERING</a:t>
            </a:r>
            <a:endParaRPr sz="1092"/>
          </a:p>
        </p:txBody>
      </p:sp>
      <p:sp>
        <p:nvSpPr>
          <p:cNvPr id="150" name="Google Shape;150;p8"/>
          <p:cNvSpPr txBox="1"/>
          <p:nvPr/>
        </p:nvSpPr>
        <p:spPr>
          <a:xfrm>
            <a:off x="9273745" y="6346827"/>
            <a:ext cx="2742622" cy="365811"/>
          </a:xfrm>
          <a:prstGeom prst="rect">
            <a:avLst/>
          </a:prstGeom>
          <a:noFill/>
          <a:ln>
            <a:noFill/>
          </a:ln>
        </p:spPr>
        <p:txBody>
          <a:bodyPr spcFirstLastPara="1" wrap="square" lIns="91248" tIns="45617" rIns="91248" bIns="45617" anchor="ctr" anchorCtr="0">
            <a:noAutofit/>
          </a:bodyPr>
          <a:lstStyle/>
          <a:p>
            <a:pPr algn="r">
              <a:buClr>
                <a:srgbClr val="002060"/>
              </a:buClr>
              <a:buSzPts val="2000"/>
            </a:pPr>
            <a:fld id="{00000000-1234-1234-1234-123412341234}" type="slidenum">
              <a:rPr lang="en-US" sz="1213" b="1">
                <a:solidFill>
                  <a:srgbClr val="002060"/>
                </a:solidFill>
                <a:latin typeface="Bookman Old Style"/>
                <a:ea typeface="Bookman Old Style"/>
                <a:cs typeface="Bookman Old Style"/>
                <a:sym typeface="Bookman Old Style"/>
              </a:rPr>
              <a:pPr algn="r">
                <a:buClr>
                  <a:srgbClr val="002060"/>
                </a:buClr>
                <a:buSzPts val="2000"/>
              </a:pPr>
              <a:t>5</a:t>
            </a:fld>
            <a:endParaRPr sz="1092"/>
          </a:p>
        </p:txBody>
      </p:sp>
      <p:sp>
        <p:nvSpPr>
          <p:cNvPr id="2" name="TextBox 1">
            <a:extLst>
              <a:ext uri="{FF2B5EF4-FFF2-40B4-BE49-F238E27FC236}">
                <a16:creationId xmlns:a16="http://schemas.microsoft.com/office/drawing/2014/main" id="{B200BBAB-BB02-ABA7-7935-C4CCD560A0C1}"/>
              </a:ext>
            </a:extLst>
          </p:cNvPr>
          <p:cNvSpPr txBox="1"/>
          <p:nvPr/>
        </p:nvSpPr>
        <p:spPr>
          <a:xfrm>
            <a:off x="175632" y="1264024"/>
            <a:ext cx="11840735" cy="3323987"/>
          </a:xfrm>
          <a:prstGeom prst="rect">
            <a:avLst/>
          </a:prstGeom>
          <a:noFill/>
        </p:spPr>
        <p:txBody>
          <a:bodyPr wrap="square" rtlCol="0">
            <a:spAutoFit/>
          </a:bodyPr>
          <a:lstStyle/>
          <a:p>
            <a:r>
              <a:rPr lang="en-US" sz="3000" dirty="0"/>
              <a:t>Despite the availability of large-scale gene expression datasets, traditional diagnostic and statistical methods struggle to extract clinically meaningful patterns due to noise, redundancy, and high feature dimensionality. Without appropriate feature reduction and model selection, classification performance degrades and interpretability becomes limited. Hence, there is a need for a structured framework that reduces dimensionality while preserving biologically relevant information.</a:t>
            </a:r>
            <a:endParaRPr lang="en-IN"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215c844e61e_0_5"/>
          <p:cNvSpPr/>
          <p:nvPr/>
        </p:nvSpPr>
        <p:spPr>
          <a:xfrm>
            <a:off x="611718" y="722958"/>
            <a:ext cx="11235029"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56" name="Google Shape;156;g215c844e61e_0_5"/>
          <p:cNvSpPr txBox="1"/>
          <p:nvPr/>
        </p:nvSpPr>
        <p:spPr>
          <a:xfrm>
            <a:off x="609792" y="182906"/>
            <a:ext cx="429332" cy="43024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57" name="Google Shape;157;g215c844e61e_0_5"/>
          <p:cNvSpPr/>
          <p:nvPr/>
        </p:nvSpPr>
        <p:spPr>
          <a:xfrm>
            <a:off x="1809268" y="432235"/>
            <a:ext cx="34698" cy="34613"/>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58" name="Google Shape;158;g215c844e61e_0_5"/>
          <p:cNvSpPr/>
          <p:nvPr/>
        </p:nvSpPr>
        <p:spPr>
          <a:xfrm>
            <a:off x="1818895" y="439936"/>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59" name="Google Shape;159;g215c844e61e_0_5"/>
          <p:cNvSpPr txBox="1"/>
          <p:nvPr/>
        </p:nvSpPr>
        <p:spPr>
          <a:xfrm>
            <a:off x="1105563" y="265695"/>
            <a:ext cx="831739" cy="339791"/>
          </a:xfrm>
          <a:prstGeom prst="rect">
            <a:avLst/>
          </a:prstGeom>
          <a:noFill/>
          <a:ln>
            <a:noFill/>
          </a:ln>
        </p:spPr>
        <p:txBody>
          <a:bodyPr spcFirstLastPara="1" wrap="square" lIns="0" tIns="10369" rIns="0" bIns="0" anchor="t" anchorCtr="0">
            <a:spAutoFit/>
          </a:bodyPr>
          <a:lstStyle/>
          <a:p>
            <a:pPr marL="6738">
              <a:lnSpc>
                <a:spcPct val="106250"/>
              </a:lnSpc>
              <a:buClr>
                <a:srgbClr val="231F20"/>
              </a:buClr>
              <a:buSzPts val="1600"/>
            </a:pPr>
            <a:r>
              <a:rPr lang="en-US" sz="970" b="1">
                <a:solidFill>
                  <a:srgbClr val="231F20"/>
                </a:solidFill>
                <a:latin typeface="Helvetica Neue"/>
                <a:ea typeface="Helvetica Neue"/>
                <a:cs typeface="Helvetica Neue"/>
                <a:sym typeface="Helvetica Neue"/>
              </a:rPr>
              <a:t>RV College of</a:t>
            </a:r>
            <a:endParaRPr sz="1092"/>
          </a:p>
          <a:p>
            <a:pPr marL="6738">
              <a:lnSpc>
                <a:spcPct val="106250"/>
              </a:lnSpc>
              <a:spcBef>
                <a:spcPts val="61"/>
              </a:spcBef>
              <a:buClr>
                <a:srgbClr val="231F20"/>
              </a:buClr>
              <a:buSzPts val="1600"/>
            </a:pPr>
            <a:r>
              <a:rPr lang="en-US" sz="970" b="1">
                <a:solidFill>
                  <a:srgbClr val="231F20"/>
                </a:solidFill>
                <a:latin typeface="Helvetica Neue"/>
                <a:ea typeface="Helvetica Neue"/>
                <a:cs typeface="Helvetica Neue"/>
                <a:sym typeface="Helvetica Neue"/>
              </a:rPr>
              <a:t>Engineering </a:t>
            </a:r>
            <a:endParaRPr sz="1092"/>
          </a:p>
        </p:txBody>
      </p:sp>
      <p:sp>
        <p:nvSpPr>
          <p:cNvPr id="160" name="Google Shape;160;g215c844e61e_0_5"/>
          <p:cNvSpPr txBox="1">
            <a:spLocks noGrp="1"/>
          </p:cNvSpPr>
          <p:nvPr>
            <p:ph type="title"/>
          </p:nvPr>
        </p:nvSpPr>
        <p:spPr>
          <a:xfrm>
            <a:off x="9607789" y="247404"/>
            <a:ext cx="2231434" cy="279948"/>
          </a:xfrm>
          <a:prstGeom prst="rect">
            <a:avLst/>
          </a:prstGeom>
          <a:noFill/>
          <a:ln>
            <a:noFill/>
          </a:ln>
        </p:spPr>
        <p:txBody>
          <a:bodyPr spcFirstLastPara="1" vert="horz" wrap="square" lIns="0" tIns="0" rIns="0" bIns="0" rtlCol="0" anchor="t" anchorCtr="0">
            <a:spAutoFit/>
          </a:bodyPr>
          <a:lstStyle/>
          <a:p>
            <a:pPr algn="r">
              <a:lnSpc>
                <a:spcPct val="100000"/>
              </a:lnSpc>
              <a:buClr>
                <a:srgbClr val="422C75"/>
              </a:buClr>
              <a:buSzPts val="3000"/>
            </a:pPr>
            <a:r>
              <a:rPr lang="en-US"/>
              <a:t>Go, change the world</a:t>
            </a:r>
            <a:endParaRPr/>
          </a:p>
        </p:txBody>
      </p:sp>
      <p:sp>
        <p:nvSpPr>
          <p:cNvPr id="161" name="Google Shape;161;g215c844e61e_0_5"/>
          <p:cNvSpPr txBox="1"/>
          <p:nvPr/>
        </p:nvSpPr>
        <p:spPr>
          <a:xfrm>
            <a:off x="492347" y="861582"/>
            <a:ext cx="5333175" cy="464540"/>
          </a:xfrm>
          <a:prstGeom prst="rect">
            <a:avLst/>
          </a:prstGeom>
          <a:gradFill>
            <a:gsLst>
              <a:gs pos="0">
                <a:srgbClr val="DAFDA7"/>
              </a:gs>
              <a:gs pos="35000">
                <a:srgbClr val="E4FDC2"/>
              </a:gs>
              <a:gs pos="100000">
                <a:srgbClr val="F5FFE6"/>
              </a:gs>
            </a:gsLst>
            <a:lin ang="16200038" scaled="0"/>
          </a:gradFill>
          <a:ln w="9525" cap="flat" cmpd="sng">
            <a:solidFill>
              <a:srgbClr val="98B954"/>
            </a:solidFill>
            <a:prstDash val="solid"/>
            <a:miter lim="800000"/>
            <a:headEnd type="none" w="sm" len="sm"/>
            <a:tailEnd type="none" w="sm" len="sm"/>
          </a:ln>
          <a:effectLst>
            <a:outerShdw blurRad="63500" dist="20000" dir="5400000">
              <a:srgbClr val="000000">
                <a:alpha val="37650"/>
              </a:srgbClr>
            </a:outerShdw>
          </a:effectLst>
        </p:spPr>
        <p:txBody>
          <a:bodyPr spcFirstLastPara="1" wrap="square" lIns="0" tIns="7292" rIns="0" bIns="0" anchor="t" anchorCtr="0">
            <a:spAutoFit/>
          </a:bodyPr>
          <a:lstStyle/>
          <a:p>
            <a:pPr marL="7701">
              <a:buClr>
                <a:srgbClr val="005893"/>
              </a:buClr>
              <a:buSzPts val="4900"/>
            </a:pPr>
            <a:r>
              <a:rPr lang="en-US" sz="2971" dirty="0">
                <a:solidFill>
                  <a:srgbClr val="005893"/>
                </a:solidFill>
                <a:latin typeface="Playfair Display"/>
                <a:ea typeface="Playfair Display"/>
                <a:cs typeface="Playfair Display"/>
                <a:sym typeface="Playfair Display"/>
              </a:rPr>
              <a:t> Flowchart of the experiment</a:t>
            </a:r>
            <a:endParaRPr sz="1092" dirty="0"/>
          </a:p>
        </p:txBody>
      </p:sp>
      <p:sp>
        <p:nvSpPr>
          <p:cNvPr id="162" name="Google Shape;162;g215c844e61e_0_5"/>
          <p:cNvSpPr txBox="1"/>
          <p:nvPr/>
        </p:nvSpPr>
        <p:spPr>
          <a:xfrm>
            <a:off x="3046289" y="335969"/>
            <a:ext cx="5185819" cy="386944"/>
          </a:xfrm>
          <a:prstGeom prst="rect">
            <a:avLst/>
          </a:prstGeom>
          <a:solidFill>
            <a:srgbClr val="FFF2CC"/>
          </a:solidFill>
          <a:ln w="12700" cap="flat" cmpd="sng">
            <a:solidFill>
              <a:srgbClr val="000000"/>
            </a:solidFill>
            <a:prstDash val="solid"/>
            <a:miter lim="800000"/>
            <a:headEnd type="none" w="sm" len="sm"/>
            <a:tailEnd type="none" w="sm" len="sm"/>
          </a:ln>
        </p:spPr>
        <p:txBody>
          <a:bodyPr spcFirstLastPara="1" wrap="square" lIns="55440" tIns="27713" rIns="55440" bIns="27713" anchor="ctr" anchorCtr="0">
            <a:noAutofit/>
          </a:bodyPr>
          <a:lstStyle/>
          <a:p>
            <a:pPr algn="ctr">
              <a:lnSpc>
                <a:spcPct val="90000"/>
              </a:lnSpc>
              <a:buClr>
                <a:srgbClr val="C00000"/>
              </a:buClr>
              <a:buSzPts val="3600"/>
            </a:pPr>
            <a:r>
              <a:rPr lang="en-US" sz="2183" b="1">
                <a:solidFill>
                  <a:srgbClr val="C00000"/>
                </a:solidFill>
                <a:latin typeface="Bookman Old Style"/>
                <a:ea typeface="Bookman Old Style"/>
                <a:cs typeface="Bookman Old Style"/>
                <a:sym typeface="Bookman Old Style"/>
              </a:rPr>
              <a:t>Methodology </a:t>
            </a:r>
            <a:endParaRPr sz="1092"/>
          </a:p>
        </p:txBody>
      </p:sp>
      <p:sp>
        <p:nvSpPr>
          <p:cNvPr id="168" name="Google Shape;168;g215c844e61e_0_5"/>
          <p:cNvSpPr txBox="1"/>
          <p:nvPr/>
        </p:nvSpPr>
        <p:spPr>
          <a:xfrm>
            <a:off x="1994350" y="3151754"/>
            <a:ext cx="9587926" cy="597352"/>
          </a:xfrm>
          <a:prstGeom prst="rect">
            <a:avLst/>
          </a:prstGeom>
          <a:noFill/>
          <a:ln>
            <a:noFill/>
          </a:ln>
        </p:spPr>
        <p:txBody>
          <a:bodyPr spcFirstLastPara="1" wrap="square" lIns="55440" tIns="55440" rIns="55440" bIns="55440" anchor="t" anchorCtr="0">
            <a:spAutoFit/>
          </a:bodyPr>
          <a:lstStyle/>
          <a:p>
            <a:r>
              <a:rPr lang="en-US" sz="1577" b="1" dirty="0">
                <a:latin typeface="Calibri"/>
                <a:ea typeface="Calibri"/>
                <a:cs typeface="Calibri"/>
                <a:sym typeface="Calibri"/>
              </a:rPr>
              <a:t>												</a:t>
            </a:r>
            <a:endParaRPr sz="1455" b="1" dirty="0">
              <a:latin typeface="Calibri"/>
              <a:ea typeface="Calibri"/>
              <a:cs typeface="Calibri"/>
              <a:sym typeface="Calibri"/>
            </a:endParaRPr>
          </a:p>
        </p:txBody>
      </p:sp>
      <p:sp>
        <p:nvSpPr>
          <p:cNvPr id="171" name="Google Shape;171;g215c844e61e_0_5"/>
          <p:cNvSpPr txBox="1"/>
          <p:nvPr/>
        </p:nvSpPr>
        <p:spPr>
          <a:xfrm>
            <a:off x="422119" y="1647925"/>
            <a:ext cx="549399" cy="280022"/>
          </a:xfrm>
          <a:prstGeom prst="rect">
            <a:avLst/>
          </a:prstGeom>
          <a:noFill/>
          <a:ln>
            <a:noFill/>
          </a:ln>
        </p:spPr>
        <p:txBody>
          <a:bodyPr spcFirstLastPara="1" wrap="square" lIns="55440" tIns="55440" rIns="55440" bIns="55440" anchor="t" anchorCtr="0">
            <a:spAutoFit/>
          </a:bodyPr>
          <a:lstStyle/>
          <a:p>
            <a:endParaRPr sz="1092">
              <a:latin typeface="Calibri"/>
              <a:ea typeface="Calibri"/>
              <a:cs typeface="Calibri"/>
              <a:sym typeface="Calibri"/>
            </a:endParaRPr>
          </a:p>
        </p:txBody>
      </p:sp>
      <p:sp>
        <p:nvSpPr>
          <p:cNvPr id="187" name="Google Shape;187;g215c844e61e_0_5"/>
          <p:cNvSpPr txBox="1"/>
          <p:nvPr/>
        </p:nvSpPr>
        <p:spPr>
          <a:xfrm>
            <a:off x="5618971" y="5447026"/>
            <a:ext cx="429332" cy="280022"/>
          </a:xfrm>
          <a:prstGeom prst="rect">
            <a:avLst/>
          </a:prstGeom>
          <a:noFill/>
          <a:ln>
            <a:noFill/>
          </a:ln>
        </p:spPr>
        <p:txBody>
          <a:bodyPr spcFirstLastPara="1" wrap="square" lIns="55440" tIns="55440" rIns="55440" bIns="55440" anchor="t" anchorCtr="0">
            <a:spAutoFit/>
          </a:bodyPr>
          <a:lstStyle/>
          <a:p>
            <a:endParaRPr sz="1092">
              <a:latin typeface="Calibri"/>
              <a:ea typeface="Calibri"/>
              <a:cs typeface="Calibri"/>
              <a:sym typeface="Calibri"/>
            </a:endParaRPr>
          </a:p>
        </p:txBody>
      </p:sp>
      <p:sp>
        <p:nvSpPr>
          <p:cNvPr id="190" name="Google Shape;190;g215c844e61e_0_5"/>
          <p:cNvSpPr txBox="1"/>
          <p:nvPr/>
        </p:nvSpPr>
        <p:spPr>
          <a:xfrm rot="-5401013">
            <a:off x="5304723" y="5694592"/>
            <a:ext cx="1234511" cy="298617"/>
          </a:xfrm>
          <a:prstGeom prst="rect">
            <a:avLst/>
          </a:prstGeom>
          <a:noFill/>
          <a:ln>
            <a:noFill/>
          </a:ln>
        </p:spPr>
        <p:txBody>
          <a:bodyPr spcFirstLastPara="1" wrap="square" lIns="55440" tIns="55440" rIns="55440" bIns="55440" anchor="t" anchorCtr="0">
            <a:spAutoFit/>
          </a:bodyPr>
          <a:lstStyle/>
          <a:p>
            <a:pPr algn="ctr"/>
            <a:r>
              <a:rPr lang="en-US" sz="1213" b="1" dirty="0">
                <a:latin typeface="Calibri"/>
                <a:ea typeface="Calibri"/>
                <a:cs typeface="Calibri"/>
                <a:sym typeface="Calibri"/>
              </a:rPr>
              <a:t>  </a:t>
            </a:r>
            <a:endParaRPr sz="1213" b="1" dirty="0">
              <a:latin typeface="Calibri"/>
              <a:ea typeface="Calibri"/>
              <a:cs typeface="Calibri"/>
              <a:sym typeface="Calibri"/>
            </a:endParaRPr>
          </a:p>
        </p:txBody>
      </p:sp>
      <p:pic>
        <p:nvPicPr>
          <p:cNvPr id="3" name="Picture 2">
            <a:extLst>
              <a:ext uri="{FF2B5EF4-FFF2-40B4-BE49-F238E27FC236}">
                <a16:creationId xmlns:a16="http://schemas.microsoft.com/office/drawing/2014/main" id="{3BF4E039-E254-8949-330A-61C03E1548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7302" y="1745008"/>
            <a:ext cx="8764002" cy="45589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txBox="1"/>
          <p:nvPr/>
        </p:nvSpPr>
        <p:spPr>
          <a:xfrm>
            <a:off x="-40004" y="17328"/>
            <a:ext cx="12191144" cy="685800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55289" tIns="27637" rIns="55289" bIns="27637" anchor="ctr" anchorCtr="0">
            <a:noAutofit/>
          </a:bodyPr>
          <a:lstStyle/>
          <a:p>
            <a:endParaRPr sz="1092">
              <a:solidFill>
                <a:schemeClr val="dk1"/>
              </a:solidFill>
              <a:latin typeface="Calibri"/>
              <a:ea typeface="Calibri"/>
              <a:cs typeface="Calibri"/>
              <a:sym typeface="Calibri"/>
            </a:endParaRPr>
          </a:p>
        </p:txBody>
      </p:sp>
      <p:sp>
        <p:nvSpPr>
          <p:cNvPr id="196" name="Google Shape;196;p7"/>
          <p:cNvSpPr/>
          <p:nvPr/>
        </p:nvSpPr>
        <p:spPr>
          <a:xfrm>
            <a:off x="611718" y="722958"/>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97" name="Google Shape;197;p7"/>
          <p:cNvSpPr txBox="1"/>
          <p:nvPr/>
        </p:nvSpPr>
        <p:spPr>
          <a:xfrm>
            <a:off x="609793" y="182906"/>
            <a:ext cx="429347" cy="43030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98" name="Google Shape;198;p7"/>
          <p:cNvSpPr/>
          <p:nvPr/>
        </p:nvSpPr>
        <p:spPr>
          <a:xfrm>
            <a:off x="1809268"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199" name="Google Shape;199;p7"/>
          <p:cNvSpPr/>
          <p:nvPr/>
        </p:nvSpPr>
        <p:spPr>
          <a:xfrm>
            <a:off x="1818895" y="439936"/>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200" name="Google Shape;200;p7"/>
          <p:cNvSpPr txBox="1"/>
          <p:nvPr/>
        </p:nvSpPr>
        <p:spPr>
          <a:xfrm>
            <a:off x="1105563" y="265695"/>
            <a:ext cx="831739" cy="339791"/>
          </a:xfrm>
          <a:prstGeom prst="rect">
            <a:avLst/>
          </a:prstGeom>
          <a:noFill/>
          <a:ln>
            <a:noFill/>
          </a:ln>
        </p:spPr>
        <p:txBody>
          <a:bodyPr spcFirstLastPara="1" wrap="square" lIns="0" tIns="10369" rIns="0" bIns="0" anchor="t" anchorCtr="0">
            <a:spAutoFit/>
          </a:bodyPr>
          <a:lstStyle/>
          <a:p>
            <a:pPr marL="6738">
              <a:lnSpc>
                <a:spcPct val="106250"/>
              </a:lnSpc>
              <a:buClr>
                <a:srgbClr val="231F20"/>
              </a:buClr>
              <a:buSzPts val="1600"/>
            </a:pPr>
            <a:r>
              <a:rPr lang="en-US" sz="970" b="1">
                <a:solidFill>
                  <a:srgbClr val="231F20"/>
                </a:solidFill>
                <a:latin typeface="Helvetica Neue"/>
                <a:ea typeface="Helvetica Neue"/>
                <a:cs typeface="Helvetica Neue"/>
                <a:sym typeface="Helvetica Neue"/>
              </a:rPr>
              <a:t>RV College of</a:t>
            </a:r>
            <a:endParaRPr sz="1092"/>
          </a:p>
          <a:p>
            <a:pPr marL="6738">
              <a:lnSpc>
                <a:spcPct val="106250"/>
              </a:lnSpc>
              <a:spcBef>
                <a:spcPts val="61"/>
              </a:spcBef>
              <a:buClr>
                <a:srgbClr val="231F20"/>
              </a:buClr>
              <a:buSzPts val="1600"/>
            </a:pPr>
            <a:r>
              <a:rPr lang="en-US" sz="970" b="1">
                <a:solidFill>
                  <a:srgbClr val="231F20"/>
                </a:solidFill>
                <a:latin typeface="Helvetica Neue"/>
                <a:ea typeface="Helvetica Neue"/>
                <a:cs typeface="Helvetica Neue"/>
                <a:sym typeface="Helvetica Neue"/>
              </a:rPr>
              <a:t>Engineering </a:t>
            </a:r>
            <a:endParaRPr sz="1092"/>
          </a:p>
        </p:txBody>
      </p:sp>
      <p:sp>
        <p:nvSpPr>
          <p:cNvPr id="201" name="Google Shape;201;p7"/>
          <p:cNvSpPr txBox="1">
            <a:spLocks noGrp="1"/>
          </p:cNvSpPr>
          <p:nvPr>
            <p:ph type="title"/>
          </p:nvPr>
        </p:nvSpPr>
        <p:spPr>
          <a:xfrm>
            <a:off x="9607789" y="247404"/>
            <a:ext cx="2231449" cy="279948"/>
          </a:xfrm>
          <a:prstGeom prst="rect">
            <a:avLst/>
          </a:prstGeom>
          <a:noFill/>
          <a:ln>
            <a:noFill/>
          </a:ln>
        </p:spPr>
        <p:txBody>
          <a:bodyPr spcFirstLastPara="1" vert="horz" wrap="square" lIns="0" tIns="0" rIns="0" bIns="0" rtlCol="0" anchor="t" anchorCtr="0">
            <a:spAutoFit/>
          </a:bodyPr>
          <a:lstStyle/>
          <a:p>
            <a:pPr algn="r">
              <a:lnSpc>
                <a:spcPct val="100000"/>
              </a:lnSpc>
              <a:buClr>
                <a:srgbClr val="422C75"/>
              </a:buClr>
              <a:buSzPts val="3000"/>
            </a:pPr>
            <a:r>
              <a:rPr lang="en-US"/>
              <a:t>Go, change the world</a:t>
            </a:r>
            <a:endParaRPr/>
          </a:p>
        </p:txBody>
      </p:sp>
      <p:sp>
        <p:nvSpPr>
          <p:cNvPr id="203" name="Google Shape;203;p7"/>
          <p:cNvSpPr txBox="1"/>
          <p:nvPr/>
        </p:nvSpPr>
        <p:spPr>
          <a:xfrm>
            <a:off x="8777975" y="6377632"/>
            <a:ext cx="2804232" cy="168059"/>
          </a:xfrm>
          <a:prstGeom prst="rect">
            <a:avLst/>
          </a:prstGeom>
          <a:noFill/>
          <a:ln>
            <a:noFill/>
          </a:ln>
        </p:spPr>
        <p:txBody>
          <a:bodyPr spcFirstLastPara="1" wrap="square" lIns="0" tIns="0" rIns="0" bIns="0" anchor="t" anchorCtr="0">
            <a:spAutoFit/>
          </a:bodyPr>
          <a:lstStyle/>
          <a:p>
            <a:pPr algn="r">
              <a:buClr>
                <a:srgbClr val="898989"/>
              </a:buClr>
              <a:buSzPts val="1800"/>
            </a:pPr>
            <a:fld id="{00000000-1234-1234-1234-123412341234}" type="slidenum">
              <a:rPr lang="en-US" sz="1092">
                <a:solidFill>
                  <a:srgbClr val="898989"/>
                </a:solidFill>
                <a:latin typeface="Calibri"/>
                <a:ea typeface="Calibri"/>
                <a:cs typeface="Calibri"/>
                <a:sym typeface="Calibri"/>
              </a:rPr>
              <a:pPr algn="r">
                <a:buClr>
                  <a:srgbClr val="898989"/>
                </a:buClr>
                <a:buSzPts val="1800"/>
              </a:pPr>
              <a:t>7</a:t>
            </a:fld>
            <a:endParaRPr sz="1092"/>
          </a:p>
        </p:txBody>
      </p:sp>
      <p:sp>
        <p:nvSpPr>
          <p:cNvPr id="204" name="Google Shape;204;p7"/>
          <p:cNvSpPr txBox="1"/>
          <p:nvPr/>
        </p:nvSpPr>
        <p:spPr>
          <a:xfrm>
            <a:off x="3046288" y="87756"/>
            <a:ext cx="6206756" cy="635266"/>
          </a:xfrm>
          <a:prstGeom prst="rect">
            <a:avLst/>
          </a:prstGeom>
          <a:solidFill>
            <a:srgbClr val="FFF2CC"/>
          </a:solidFill>
          <a:ln w="12700" cap="flat" cmpd="sng">
            <a:solidFill>
              <a:srgbClr val="000000"/>
            </a:solidFill>
            <a:prstDash val="solid"/>
            <a:miter lim="800000"/>
            <a:headEnd type="none" w="sm" len="sm"/>
            <a:tailEnd type="none" w="sm" len="sm"/>
          </a:ln>
        </p:spPr>
        <p:txBody>
          <a:bodyPr spcFirstLastPara="1" wrap="square" lIns="55440" tIns="27713" rIns="55440" bIns="27713" anchor="ctr" anchorCtr="0">
            <a:noAutofit/>
          </a:bodyPr>
          <a:lstStyle/>
          <a:p>
            <a:pPr algn="ctr">
              <a:lnSpc>
                <a:spcPct val="90000"/>
              </a:lnSpc>
              <a:buClr>
                <a:srgbClr val="C00000"/>
              </a:buClr>
              <a:buSzPts val="3600"/>
            </a:pPr>
            <a:r>
              <a:rPr lang="en-US" sz="2183" b="1">
                <a:solidFill>
                  <a:srgbClr val="C00000"/>
                </a:solidFill>
                <a:latin typeface="Bookman Old Style"/>
                <a:ea typeface="Bookman Old Style"/>
                <a:cs typeface="Bookman Old Style"/>
                <a:sym typeface="Bookman Old Style"/>
              </a:rPr>
              <a:t>Methodology </a:t>
            </a:r>
            <a:endParaRPr sz="1092"/>
          </a:p>
        </p:txBody>
      </p:sp>
      <p:sp>
        <p:nvSpPr>
          <p:cNvPr id="205" name="Google Shape;205;p7"/>
          <p:cNvSpPr txBox="1"/>
          <p:nvPr/>
        </p:nvSpPr>
        <p:spPr>
          <a:xfrm>
            <a:off x="849813" y="4144731"/>
            <a:ext cx="10006161" cy="382678"/>
          </a:xfrm>
          <a:prstGeom prst="rect">
            <a:avLst/>
          </a:prstGeom>
          <a:solidFill>
            <a:schemeClr val="lt1">
              <a:alpha val="98430"/>
            </a:schemeClr>
          </a:solidFill>
          <a:ln w="76200" cap="flat" cmpd="sng">
            <a:solidFill>
              <a:schemeClr val="lt1"/>
            </a:solidFill>
            <a:prstDash val="solid"/>
            <a:miter lim="8000"/>
            <a:headEnd type="none" w="sm" len="sm"/>
            <a:tailEnd type="none" w="sm" len="sm"/>
          </a:ln>
        </p:spPr>
        <p:txBody>
          <a:bodyPr spcFirstLastPara="1" wrap="square" lIns="55440" tIns="55440" rIns="55440" bIns="55440" anchor="ctr" anchorCtr="0">
            <a:spAutoFit/>
          </a:bodyPr>
          <a:lstStyle/>
          <a:p>
            <a:endParaRPr sz="1759" dirty="0">
              <a:solidFill>
                <a:schemeClr val="dk1"/>
              </a:solidFill>
              <a:highlight>
                <a:srgbClr val="FFFFFF"/>
              </a:highlight>
            </a:endParaRPr>
          </a:p>
        </p:txBody>
      </p:sp>
      <p:pic>
        <p:nvPicPr>
          <p:cNvPr id="208" name="Google Shape;208;p7"/>
          <p:cNvPicPr preferRelativeResize="0"/>
          <p:nvPr/>
        </p:nvPicPr>
        <p:blipFill rotWithShape="1">
          <a:blip r:embed="rId4">
            <a:alphaModFix/>
          </a:blip>
          <a:srcRect l="-40030" t="-184340" r="40030" b="184340"/>
          <a:stretch/>
        </p:blipFill>
        <p:spPr>
          <a:xfrm>
            <a:off x="3052064" y="2822523"/>
            <a:ext cx="6272702" cy="1397784"/>
          </a:xfrm>
          <a:prstGeom prst="rect">
            <a:avLst/>
          </a:prstGeom>
          <a:noFill/>
          <a:ln>
            <a:noFill/>
          </a:ln>
        </p:spPr>
      </p:pic>
      <p:sp>
        <p:nvSpPr>
          <p:cNvPr id="3" name="TextBox 2">
            <a:extLst>
              <a:ext uri="{FF2B5EF4-FFF2-40B4-BE49-F238E27FC236}">
                <a16:creationId xmlns:a16="http://schemas.microsoft.com/office/drawing/2014/main" id="{B278A9E1-95D6-9DB5-A3DE-E6E2C79F4BC8}"/>
              </a:ext>
            </a:extLst>
          </p:cNvPr>
          <p:cNvSpPr txBox="1"/>
          <p:nvPr/>
        </p:nvSpPr>
        <p:spPr>
          <a:xfrm>
            <a:off x="438741" y="918565"/>
            <a:ext cx="11400497" cy="4093428"/>
          </a:xfrm>
          <a:prstGeom prst="rect">
            <a:avLst/>
          </a:prstGeom>
          <a:noFill/>
        </p:spPr>
        <p:txBody>
          <a:bodyPr wrap="square" rtlCol="0">
            <a:spAutoFit/>
          </a:bodyPr>
          <a:lstStyle/>
          <a:p>
            <a:r>
              <a:rPr lang="en-US" sz="2000" dirty="0"/>
              <a:t>The proposed methodology follows a structured machine learning pipeline designed specifically for high-dimensional biological data. The workflow begins with preprocessing of raw gene expression values to ensure data consistency and comparability across samples. Dimensionality reduction techniques are then applied to compress the feature space while preserving biologically relevant information. The reduced feature representations are used to train multiple supervised classification models, allowing a comparative evaluation of their performance. Finally, statistical metrics are employed to validate model effectiveness and robustness.</a:t>
            </a:r>
          </a:p>
          <a:p>
            <a:endParaRPr lang="en-US" sz="2000" dirty="0"/>
          </a:p>
          <a:p>
            <a:r>
              <a:rPr lang="en-US" sz="2000" dirty="0"/>
              <a:t>These Include:</a:t>
            </a:r>
          </a:p>
          <a:p>
            <a:pPr marL="457200" indent="-457200">
              <a:buFont typeface="Arial" panose="020B0604020202020204" pitchFamily="34" charset="0"/>
              <a:buChar char="•"/>
            </a:pPr>
            <a:r>
              <a:rPr lang="en-IN" sz="2000" dirty="0"/>
              <a:t>Data preprocessing and normalization</a:t>
            </a:r>
          </a:p>
          <a:p>
            <a:pPr marL="457200" indent="-457200">
              <a:buFont typeface="Arial" panose="020B0604020202020204" pitchFamily="34" charset="0"/>
              <a:buChar char="•"/>
            </a:pPr>
            <a:r>
              <a:rPr lang="en-US" sz="2000" dirty="0"/>
              <a:t>Dimensionality reduction using PCA and autoencoders</a:t>
            </a:r>
          </a:p>
          <a:p>
            <a:pPr marL="457200" indent="-457200">
              <a:buFont typeface="Arial" panose="020B0604020202020204" pitchFamily="34" charset="0"/>
              <a:buChar char="•"/>
            </a:pPr>
            <a:r>
              <a:rPr lang="en-US" sz="2000" dirty="0"/>
              <a:t>Classification using multiple machine learning models</a:t>
            </a:r>
          </a:p>
          <a:p>
            <a:pPr marL="457200" indent="-457200">
              <a:buFont typeface="Arial" panose="020B0604020202020204" pitchFamily="34" charset="0"/>
              <a:buChar char="•"/>
            </a:pPr>
            <a:r>
              <a:rPr lang="en-US" sz="2000" dirty="0"/>
              <a:t>Performance evaluation using standard metrics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9;p6">
            <a:extLst>
              <a:ext uri="{FF2B5EF4-FFF2-40B4-BE49-F238E27FC236}">
                <a16:creationId xmlns:a16="http://schemas.microsoft.com/office/drawing/2014/main" id="{1B30B412-C8C1-75EE-9A7E-7CEB32CC2FA5}"/>
              </a:ext>
            </a:extLst>
          </p:cNvPr>
          <p:cNvSpPr txBox="1">
            <a:spLocks noGrp="1"/>
          </p:cNvSpPr>
          <p:nvPr>
            <p:ph type="title"/>
          </p:nvPr>
        </p:nvSpPr>
        <p:spPr>
          <a:xfrm>
            <a:off x="352425" y="86286"/>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p>
            <a:pPr>
              <a:buClr>
                <a:srgbClr val="C00000"/>
              </a:buClr>
              <a:buSzPts val="5900"/>
            </a:pPr>
            <a:r>
              <a:rPr lang="en-IN" sz="3600" dirty="0"/>
              <a:t>DIMENSIONALITY REDUCTION</a:t>
            </a:r>
            <a:r>
              <a:rPr lang="en-US" sz="3578" b="1" i="0" dirty="0">
                <a:solidFill>
                  <a:srgbClr val="C00000"/>
                </a:solidFill>
                <a:latin typeface="Bookman Old Style"/>
                <a:ea typeface="Bookman Old Style"/>
                <a:cs typeface="Bookman Old Style"/>
                <a:sym typeface="Bookman Old Style"/>
              </a:rPr>
              <a:t> </a:t>
            </a:r>
            <a:endParaRPr dirty="0"/>
          </a:p>
        </p:txBody>
      </p:sp>
      <p:sp>
        <p:nvSpPr>
          <p:cNvPr id="5" name="TextBox 4">
            <a:extLst>
              <a:ext uri="{FF2B5EF4-FFF2-40B4-BE49-F238E27FC236}">
                <a16:creationId xmlns:a16="http://schemas.microsoft.com/office/drawing/2014/main" id="{C3B60D83-0CD4-AB49-F79A-9D573DD9F447}"/>
              </a:ext>
            </a:extLst>
          </p:cNvPr>
          <p:cNvSpPr txBox="1"/>
          <p:nvPr/>
        </p:nvSpPr>
        <p:spPr>
          <a:xfrm>
            <a:off x="259976" y="1161826"/>
            <a:ext cx="11579599" cy="4708981"/>
          </a:xfrm>
          <a:prstGeom prst="rect">
            <a:avLst/>
          </a:prstGeom>
          <a:noFill/>
        </p:spPr>
        <p:txBody>
          <a:bodyPr wrap="square" rtlCol="0">
            <a:spAutoFit/>
          </a:bodyPr>
          <a:lstStyle/>
          <a:p>
            <a:r>
              <a:rPr lang="en-US" sz="2500" dirty="0"/>
              <a:t>Dimensionality reduction plays a crucial role in handling RNA-seq data by transforming thousands of correlated gene features into a smaller, more informative feature space. Principal Component Analysis (PCA) captures dominant linear variance patterns, enabling visualization and initial separability assessment. Autoencoders, on the other hand, learn non-linear compressed representations through neural networks, allowing more complex biological relationships to be preserved. Together, these techniques significantly reduce computational complexity while improving downstream classification performance.</a:t>
            </a:r>
          </a:p>
          <a:p>
            <a:endParaRPr lang="en-US" sz="2500" dirty="0"/>
          </a:p>
          <a:p>
            <a:pPr marL="457200" indent="-457200">
              <a:buFont typeface="Arial" panose="020B0604020202020204" pitchFamily="34" charset="0"/>
              <a:buChar char="•"/>
            </a:pPr>
            <a:r>
              <a:rPr lang="en-US" sz="2500" dirty="0"/>
              <a:t>PCA captures maximum variance through orthogonal components</a:t>
            </a:r>
          </a:p>
          <a:p>
            <a:pPr marL="457200" indent="-457200">
              <a:buFont typeface="Arial" panose="020B0604020202020204" pitchFamily="34" charset="0"/>
              <a:buChar char="•"/>
            </a:pPr>
            <a:r>
              <a:rPr lang="en-IN" sz="2500" dirty="0"/>
              <a:t>Autoencoders model non-linear gene interactions</a:t>
            </a:r>
          </a:p>
          <a:p>
            <a:pPr marL="457200" indent="-457200">
              <a:buFont typeface="Arial" panose="020B0604020202020204" pitchFamily="34" charset="0"/>
              <a:buChar char="•"/>
            </a:pPr>
            <a:r>
              <a:rPr lang="en-US" sz="2500" dirty="0"/>
              <a:t>Reduced features improve learning efficiency and stability</a:t>
            </a:r>
            <a:endParaRPr lang="en-IN" sz="2500" dirty="0"/>
          </a:p>
        </p:txBody>
      </p:sp>
    </p:spTree>
    <p:extLst>
      <p:ext uri="{BB962C8B-B14F-4D97-AF65-F5344CB8AC3E}">
        <p14:creationId xmlns:p14="http://schemas.microsoft.com/office/powerpoint/2010/main" val="306981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2195381887f_1_0"/>
          <p:cNvSpPr txBox="1">
            <a:spLocks noGrp="1"/>
          </p:cNvSpPr>
          <p:nvPr>
            <p:ph type="sldNum" idx="12"/>
          </p:nvPr>
        </p:nvSpPr>
        <p:spPr>
          <a:xfrm>
            <a:off x="8777975" y="6377632"/>
            <a:ext cx="2804301" cy="168059"/>
          </a:xfrm>
          <a:prstGeom prst="rect">
            <a:avLst/>
          </a:prstGeom>
        </p:spPr>
        <p:txBody>
          <a:bodyPr spcFirstLastPara="1" vert="horz" wrap="square" lIns="0" tIns="0" rIns="0" bIns="0" rtlCol="0" anchor="t" anchorCtr="0">
            <a:spAutoFit/>
          </a:bodyPr>
          <a:lstStyle/>
          <a:p>
            <a:fld id="{00000000-1234-1234-1234-123412341234}" type="slidenum">
              <a:rPr lang="en-US"/>
              <a:pPr/>
              <a:t>9</a:t>
            </a:fld>
            <a:endParaRPr/>
          </a:p>
        </p:txBody>
      </p:sp>
      <p:sp>
        <p:nvSpPr>
          <p:cNvPr id="2" name="Google Shape;249;p6">
            <a:extLst>
              <a:ext uri="{FF2B5EF4-FFF2-40B4-BE49-F238E27FC236}">
                <a16:creationId xmlns:a16="http://schemas.microsoft.com/office/drawing/2014/main" id="{74EA1063-F022-024A-E7B8-254AAAEA6CC5}"/>
              </a:ext>
            </a:extLst>
          </p:cNvPr>
          <p:cNvSpPr txBox="1">
            <a:spLocks noGrp="1"/>
          </p:cNvSpPr>
          <p:nvPr>
            <p:ph type="title"/>
          </p:nvPr>
        </p:nvSpPr>
        <p:spPr>
          <a:xfrm>
            <a:off x="352425" y="86286"/>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p>
            <a:pPr>
              <a:buClr>
                <a:srgbClr val="C00000"/>
              </a:buClr>
              <a:buSzPts val="5900"/>
            </a:pPr>
            <a:r>
              <a:rPr lang="en-IN" sz="3600" dirty="0"/>
              <a:t>DIMENSIONALITY REDUCTION</a:t>
            </a:r>
            <a:r>
              <a:rPr lang="en-US" sz="3578" b="1" i="0" dirty="0">
                <a:solidFill>
                  <a:srgbClr val="C00000"/>
                </a:solidFill>
                <a:latin typeface="Bookman Old Style"/>
                <a:ea typeface="Bookman Old Style"/>
                <a:cs typeface="Bookman Old Style"/>
                <a:sym typeface="Bookman Old Style"/>
              </a:rPr>
              <a:t> </a:t>
            </a:r>
            <a:endParaRPr dirty="0"/>
          </a:p>
        </p:txBody>
      </p:sp>
      <p:pic>
        <p:nvPicPr>
          <p:cNvPr id="4" name="Picture 3">
            <a:extLst>
              <a:ext uri="{FF2B5EF4-FFF2-40B4-BE49-F238E27FC236}">
                <a16:creationId xmlns:a16="http://schemas.microsoft.com/office/drawing/2014/main" id="{AF8B5021-04FD-CFE8-09CE-4500C6474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426" y="961736"/>
            <a:ext cx="10467190" cy="58962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CEA0-3A9C-2974-4980-EFC10457BABE}"/>
              </a:ext>
            </a:extLst>
          </p:cNvPr>
          <p:cNvSpPr>
            <a:spLocks noGrp="1"/>
          </p:cNvSpPr>
          <p:nvPr>
            <p:ph type="title"/>
          </p:nvPr>
        </p:nvSpPr>
        <p:spPr/>
        <p:txBody>
          <a:bodyPr/>
          <a:lstStyle/>
          <a:p>
            <a:endParaRPr lang="en-IN" dirty="0"/>
          </a:p>
        </p:txBody>
      </p:sp>
      <p:sp>
        <p:nvSpPr>
          <p:cNvPr id="4" name="Google Shape;249;p6">
            <a:extLst>
              <a:ext uri="{FF2B5EF4-FFF2-40B4-BE49-F238E27FC236}">
                <a16:creationId xmlns:a16="http://schemas.microsoft.com/office/drawing/2014/main" id="{8B7277AF-BED6-7D6D-A91A-98EB4D68BFDC}"/>
              </a:ext>
            </a:extLst>
          </p:cNvPr>
          <p:cNvSpPr txBox="1">
            <a:spLocks/>
          </p:cNvSpPr>
          <p:nvPr/>
        </p:nvSpPr>
        <p:spPr>
          <a:xfrm>
            <a:off x="352425" y="86286"/>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lvl1pPr lvl="0" algn="ctr" defTabSz="914400" rtl="0" eaLnBrk="1" latinLnBrk="0" hangingPunct="1">
              <a:lnSpc>
                <a:spcPct val="90000"/>
              </a:lnSpc>
              <a:spcBef>
                <a:spcPts val="0"/>
              </a:spcBef>
              <a:spcAft>
                <a:spcPts val="0"/>
              </a:spcAft>
              <a:buSzPts val="1400"/>
              <a:buNone/>
              <a:defRPr sz="1819" b="0" i="1" kern="1200">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pPr>
              <a:buClr>
                <a:srgbClr val="C00000"/>
              </a:buClr>
              <a:buSzPts val="5900"/>
            </a:pPr>
            <a:r>
              <a:rPr lang="en-IN" sz="2500" b="1" i="0" dirty="0">
                <a:solidFill>
                  <a:schemeClr val="accent1"/>
                </a:solidFill>
              </a:rPr>
              <a:t>PCA VISUALIZATION</a:t>
            </a:r>
          </a:p>
        </p:txBody>
      </p:sp>
      <p:sp>
        <p:nvSpPr>
          <p:cNvPr id="5" name="TextBox 4">
            <a:extLst>
              <a:ext uri="{FF2B5EF4-FFF2-40B4-BE49-F238E27FC236}">
                <a16:creationId xmlns:a16="http://schemas.microsoft.com/office/drawing/2014/main" id="{60B229C4-ABAD-7238-507A-28B247462098}"/>
              </a:ext>
            </a:extLst>
          </p:cNvPr>
          <p:cNvSpPr txBox="1"/>
          <p:nvPr/>
        </p:nvSpPr>
        <p:spPr>
          <a:xfrm>
            <a:off x="295835" y="849854"/>
            <a:ext cx="11607501" cy="1938992"/>
          </a:xfrm>
          <a:prstGeom prst="rect">
            <a:avLst/>
          </a:prstGeom>
          <a:noFill/>
        </p:spPr>
        <p:txBody>
          <a:bodyPr wrap="square" rtlCol="0">
            <a:spAutoFit/>
          </a:bodyPr>
          <a:lstStyle/>
          <a:p>
            <a:r>
              <a:rPr lang="en-US" sz="1500" dirty="0"/>
              <a:t>PCA visualization provides an intuitive understanding of the structure of gene expression data after dimensionality reduction. By projecting samples onto the first two principal components, it becomes possible to observe clustering patterns and overlap between cancer subtypes. Clear separation indicates strong discriminative potential, while partial overlap reflects biological similarity between certain tumor classes. This step validates whether reduced features retain meaningful biological information.</a:t>
            </a:r>
          </a:p>
          <a:p>
            <a:endParaRPr lang="en-US" sz="1500" dirty="0"/>
          </a:p>
          <a:p>
            <a:pPr marL="457200" indent="-457200">
              <a:buFont typeface="Arial" panose="020B0604020202020204" pitchFamily="34" charset="0"/>
              <a:buChar char="•"/>
            </a:pPr>
            <a:r>
              <a:rPr lang="en-IN" sz="1500" dirty="0"/>
              <a:t>Two principal components summarize dominant gene variance</a:t>
            </a:r>
          </a:p>
          <a:p>
            <a:pPr marL="457200" indent="-457200">
              <a:buFont typeface="Arial" panose="020B0604020202020204" pitchFamily="34" charset="0"/>
              <a:buChar char="•"/>
            </a:pPr>
            <a:r>
              <a:rPr lang="en-IN" sz="1500" dirty="0"/>
              <a:t>Clustering trends indicate subtype separability</a:t>
            </a:r>
          </a:p>
          <a:p>
            <a:pPr marL="457200" indent="-457200">
              <a:buFont typeface="Arial" panose="020B0604020202020204" pitchFamily="34" charset="0"/>
              <a:buChar char="•"/>
            </a:pPr>
            <a:r>
              <a:rPr lang="en-US" sz="1500" dirty="0"/>
              <a:t>Overlap reflects shared molecular characteristics</a:t>
            </a:r>
            <a:endParaRPr lang="en-IN" sz="1500" dirty="0"/>
          </a:p>
        </p:txBody>
      </p:sp>
      <p:pic>
        <p:nvPicPr>
          <p:cNvPr id="7" name="Picture 6">
            <a:extLst>
              <a:ext uri="{FF2B5EF4-FFF2-40B4-BE49-F238E27FC236}">
                <a16:creationId xmlns:a16="http://schemas.microsoft.com/office/drawing/2014/main" id="{F315068A-55DB-8FF1-B73F-A6DE44A31A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5092" y="2871183"/>
            <a:ext cx="5018423" cy="3900531"/>
          </a:xfrm>
          <a:prstGeom prst="rect">
            <a:avLst/>
          </a:prstGeom>
        </p:spPr>
      </p:pic>
    </p:spTree>
    <p:extLst>
      <p:ext uri="{BB962C8B-B14F-4D97-AF65-F5344CB8AC3E}">
        <p14:creationId xmlns:p14="http://schemas.microsoft.com/office/powerpoint/2010/main" val="1641930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B0B8E-2FE3-6370-093C-53E9375410F4}"/>
              </a:ext>
            </a:extLst>
          </p:cNvPr>
          <p:cNvSpPr>
            <a:spLocks noGrp="1"/>
          </p:cNvSpPr>
          <p:nvPr>
            <p:ph type="title"/>
          </p:nvPr>
        </p:nvSpPr>
        <p:spPr/>
        <p:txBody>
          <a:bodyPr/>
          <a:lstStyle/>
          <a:p>
            <a:endParaRPr lang="en-IN"/>
          </a:p>
        </p:txBody>
      </p:sp>
      <p:sp>
        <p:nvSpPr>
          <p:cNvPr id="4" name="Google Shape;249;p6">
            <a:extLst>
              <a:ext uri="{FF2B5EF4-FFF2-40B4-BE49-F238E27FC236}">
                <a16:creationId xmlns:a16="http://schemas.microsoft.com/office/drawing/2014/main" id="{492AD107-8F63-51AF-7192-86034984CEF7}"/>
              </a:ext>
            </a:extLst>
          </p:cNvPr>
          <p:cNvSpPr txBox="1">
            <a:spLocks/>
          </p:cNvSpPr>
          <p:nvPr/>
        </p:nvSpPr>
        <p:spPr>
          <a:xfrm>
            <a:off x="352490" y="147133"/>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lvl1pPr lvl="0" algn="ctr" defTabSz="914400" rtl="0" eaLnBrk="1" latinLnBrk="0" hangingPunct="1">
              <a:lnSpc>
                <a:spcPct val="90000"/>
              </a:lnSpc>
              <a:spcBef>
                <a:spcPts val="0"/>
              </a:spcBef>
              <a:spcAft>
                <a:spcPts val="0"/>
              </a:spcAft>
              <a:buSzPts val="1400"/>
              <a:buNone/>
              <a:defRPr sz="1819" b="0" i="1" kern="1200">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pPr>
              <a:buClr>
                <a:srgbClr val="C00000"/>
              </a:buClr>
              <a:buSzPts val="5900"/>
            </a:pPr>
            <a:r>
              <a:rPr lang="en-IN" sz="2800" dirty="0"/>
              <a:t>CLASSIFICATION MODELS</a:t>
            </a:r>
            <a:endParaRPr lang="en-IN" sz="2500" b="1" i="0" dirty="0">
              <a:solidFill>
                <a:schemeClr val="accent1"/>
              </a:solidFill>
            </a:endParaRPr>
          </a:p>
        </p:txBody>
      </p:sp>
      <p:sp>
        <p:nvSpPr>
          <p:cNvPr id="5" name="TextBox 4">
            <a:extLst>
              <a:ext uri="{FF2B5EF4-FFF2-40B4-BE49-F238E27FC236}">
                <a16:creationId xmlns:a16="http://schemas.microsoft.com/office/drawing/2014/main" id="{EFBDAEB7-6B48-4A8F-3FF2-E78D2CF89A7B}"/>
              </a:ext>
            </a:extLst>
          </p:cNvPr>
          <p:cNvSpPr txBox="1"/>
          <p:nvPr/>
        </p:nvSpPr>
        <p:spPr>
          <a:xfrm>
            <a:off x="352360" y="1215614"/>
            <a:ext cx="11674689" cy="5078313"/>
          </a:xfrm>
          <a:prstGeom prst="rect">
            <a:avLst/>
          </a:prstGeom>
          <a:noFill/>
        </p:spPr>
        <p:txBody>
          <a:bodyPr wrap="square" rtlCol="0">
            <a:spAutoFit/>
          </a:bodyPr>
          <a:lstStyle/>
          <a:p>
            <a:r>
              <a:rPr lang="en-US" dirty="0"/>
              <a:t>Multiple supervised learning algorithms were employed to evaluate classification performance under different modeling assumptions. Support Vector Machines are effective for high-dimensional spaces due to margin maximization, while Random Forests leverage ensemble learning to improve robustness. Logistic Regression provides insight into linear separability, and K-Nearest Neighbors serves as a distance-based baseline. Using multiple models ensures a comprehensive and unbiased comparison.</a:t>
            </a:r>
          </a:p>
          <a:p>
            <a:endParaRPr lang="en-US" dirty="0"/>
          </a:p>
          <a:p>
            <a:r>
              <a:rPr lang="en-US" dirty="0"/>
              <a:t>These are:</a:t>
            </a:r>
          </a:p>
          <a:p>
            <a:pPr marL="285750" indent="-285750">
              <a:buFont typeface="Arial" panose="020B0604020202020204" pitchFamily="34" charset="0"/>
              <a:buChar char="•"/>
            </a:pPr>
            <a:r>
              <a:rPr lang="en-IN" b="1" dirty="0"/>
              <a:t>SVM</a:t>
            </a:r>
            <a:r>
              <a:rPr lang="en-IN" dirty="0"/>
              <a:t>:</a:t>
            </a:r>
            <a:r>
              <a:rPr lang="en-US" dirty="0"/>
              <a:t>Margin-based classifier designed for high-dimensional spaces; constructs an optimal separating hyperplane using support vectors and kernel functions, making it highly effective for complex gene expression patterns.</a:t>
            </a:r>
            <a:r>
              <a:rPr lang="en-IN" dirty="0"/>
              <a:t>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Random Forest:</a:t>
            </a:r>
            <a:r>
              <a:rPr lang="en-US" dirty="0"/>
              <a:t> Ensemble-based learning model that aggregates multiple decision trees; reduces variance and overfitting while capturing non-linear gene interactions through random feature and sample selection.</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Logistic Regression</a:t>
            </a:r>
            <a:r>
              <a:rPr lang="en-IN" dirty="0"/>
              <a:t>: </a:t>
            </a:r>
            <a:r>
              <a:rPr lang="en-US" dirty="0"/>
              <a:t>Probabilistic linear classifier that models class membership likelihood; provides stable baseline performance and interpretability for evaluating separability of reduced gene expression features.</a:t>
            </a:r>
            <a:endParaRPr lang="en-IN"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KNN</a:t>
            </a:r>
            <a:r>
              <a:rPr lang="en-IN" dirty="0"/>
              <a:t>:</a:t>
            </a:r>
            <a:r>
              <a:rPr lang="en-US" dirty="0"/>
              <a:t>Instance-based, distance-driven classifier that assigns labels based on nearest neighbors; serves as a simple baseline to analyze local similarity and clustering in gene expression data.</a:t>
            </a:r>
            <a:endParaRPr lang="en-IN" dirty="0"/>
          </a:p>
        </p:txBody>
      </p:sp>
    </p:spTree>
    <p:extLst>
      <p:ext uri="{BB962C8B-B14F-4D97-AF65-F5344CB8AC3E}">
        <p14:creationId xmlns:p14="http://schemas.microsoft.com/office/powerpoint/2010/main" val="498790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48F3-AD2D-2EEB-499C-10B1E0DA4322}"/>
              </a:ext>
            </a:extLst>
          </p:cNvPr>
          <p:cNvSpPr>
            <a:spLocks noGrp="1"/>
          </p:cNvSpPr>
          <p:nvPr>
            <p:ph type="title"/>
          </p:nvPr>
        </p:nvSpPr>
        <p:spPr/>
        <p:txBody>
          <a:bodyPr/>
          <a:lstStyle/>
          <a:p>
            <a:endParaRPr lang="en-IN"/>
          </a:p>
        </p:txBody>
      </p:sp>
      <p:sp>
        <p:nvSpPr>
          <p:cNvPr id="4" name="Google Shape;249;p6">
            <a:extLst>
              <a:ext uri="{FF2B5EF4-FFF2-40B4-BE49-F238E27FC236}">
                <a16:creationId xmlns:a16="http://schemas.microsoft.com/office/drawing/2014/main" id="{4686FA33-6689-A3D9-C95B-A895B7F0DF58}"/>
              </a:ext>
            </a:extLst>
          </p:cNvPr>
          <p:cNvSpPr txBox="1">
            <a:spLocks/>
          </p:cNvSpPr>
          <p:nvPr/>
        </p:nvSpPr>
        <p:spPr>
          <a:xfrm>
            <a:off x="352490" y="147133"/>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lvl1pPr lvl="0" algn="ctr" defTabSz="914400" rtl="0" eaLnBrk="1" latinLnBrk="0" hangingPunct="1">
              <a:lnSpc>
                <a:spcPct val="90000"/>
              </a:lnSpc>
              <a:spcBef>
                <a:spcPts val="0"/>
              </a:spcBef>
              <a:spcAft>
                <a:spcPts val="0"/>
              </a:spcAft>
              <a:buSzPts val="1400"/>
              <a:buNone/>
              <a:defRPr sz="1819" b="0" i="1" kern="1200">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pPr>
              <a:buClr>
                <a:srgbClr val="C00000"/>
              </a:buClr>
              <a:buSzPts val="5900"/>
            </a:pPr>
            <a:r>
              <a:rPr lang="en-IN" sz="2800" dirty="0"/>
              <a:t>RESULTS: MODEL PERFORMANCE</a:t>
            </a:r>
            <a:endParaRPr lang="en-IN" sz="2500" b="1" i="0" dirty="0">
              <a:solidFill>
                <a:schemeClr val="accent1"/>
              </a:solidFill>
            </a:endParaRPr>
          </a:p>
        </p:txBody>
      </p:sp>
      <p:sp>
        <p:nvSpPr>
          <p:cNvPr id="6" name="TextBox 5">
            <a:extLst>
              <a:ext uri="{FF2B5EF4-FFF2-40B4-BE49-F238E27FC236}">
                <a16:creationId xmlns:a16="http://schemas.microsoft.com/office/drawing/2014/main" id="{F0A217B3-76D1-E7B1-238B-E756244B19EA}"/>
              </a:ext>
            </a:extLst>
          </p:cNvPr>
          <p:cNvSpPr txBox="1"/>
          <p:nvPr/>
        </p:nvSpPr>
        <p:spPr>
          <a:xfrm>
            <a:off x="352360" y="970989"/>
            <a:ext cx="11647795" cy="2215991"/>
          </a:xfrm>
          <a:prstGeom prst="rect">
            <a:avLst/>
          </a:prstGeom>
          <a:noFill/>
        </p:spPr>
        <p:txBody>
          <a:bodyPr wrap="square" rtlCol="0">
            <a:spAutoFit/>
          </a:bodyPr>
          <a:lstStyle/>
          <a:p>
            <a:r>
              <a:rPr lang="en-US" sz="1500" dirty="0"/>
              <a:t>The experimental results demonstrate that dimensionality reduction combined with supervised learning significantly enhances classification accuracy. Among all evaluated models, Support Vector Machine achieved the highest performance, indicating strong class separability in the reduced feature space. Random Forest closely followed, reflecting its ability to handle complex decision boundaries. The results confirm that feature compression plays a critical role in improving predictive reliability.</a:t>
            </a:r>
          </a:p>
          <a:p>
            <a:endParaRPr lang="en-US" sz="1500" dirty="0"/>
          </a:p>
          <a:p>
            <a:r>
              <a:rPr lang="en-US" sz="1500" dirty="0"/>
              <a:t>These Include:</a:t>
            </a:r>
          </a:p>
          <a:p>
            <a:pPr marL="285750" indent="-285750">
              <a:buFont typeface="Arial" panose="020B0604020202020204" pitchFamily="34" charset="0"/>
              <a:buChar char="•"/>
            </a:pPr>
            <a:r>
              <a:rPr lang="en-US" sz="1500" dirty="0"/>
              <a:t>SVM achieved highest accuracy and ROC-AUC</a:t>
            </a:r>
          </a:p>
          <a:p>
            <a:pPr marL="285750" indent="-285750">
              <a:buFont typeface="Arial" panose="020B0604020202020204" pitchFamily="34" charset="0"/>
              <a:buChar char="•"/>
            </a:pPr>
            <a:r>
              <a:rPr lang="en-US" sz="1500" dirty="0"/>
              <a:t>Random Forest showed stable performance</a:t>
            </a:r>
          </a:p>
          <a:p>
            <a:pPr marL="285750" indent="-285750">
              <a:buFont typeface="Arial" panose="020B0604020202020204" pitchFamily="34" charset="0"/>
              <a:buChar char="•"/>
            </a:pPr>
            <a:r>
              <a:rPr lang="en-US" sz="1500" dirty="0"/>
              <a:t>KNN performed comparatively lower due to density sensitivity</a:t>
            </a:r>
          </a:p>
        </p:txBody>
      </p:sp>
      <p:pic>
        <p:nvPicPr>
          <p:cNvPr id="8" name="Picture 7">
            <a:extLst>
              <a:ext uri="{FF2B5EF4-FFF2-40B4-BE49-F238E27FC236}">
                <a16:creationId xmlns:a16="http://schemas.microsoft.com/office/drawing/2014/main" id="{DAFD8E43-CC98-462D-4F1F-E1163A238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071" y="3429000"/>
            <a:ext cx="3835970" cy="3185806"/>
          </a:xfrm>
          <a:prstGeom prst="rect">
            <a:avLst/>
          </a:prstGeom>
        </p:spPr>
      </p:pic>
    </p:spTree>
    <p:extLst>
      <p:ext uri="{BB962C8B-B14F-4D97-AF65-F5344CB8AC3E}">
        <p14:creationId xmlns:p14="http://schemas.microsoft.com/office/powerpoint/2010/main" val="2578661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37D4C-5BA2-E17A-D745-B04BAD4320D6}"/>
              </a:ext>
            </a:extLst>
          </p:cNvPr>
          <p:cNvSpPr>
            <a:spLocks noGrp="1"/>
          </p:cNvSpPr>
          <p:nvPr>
            <p:ph type="title"/>
          </p:nvPr>
        </p:nvSpPr>
        <p:spPr/>
        <p:txBody>
          <a:bodyPr/>
          <a:lstStyle/>
          <a:p>
            <a:endParaRPr lang="en-IN"/>
          </a:p>
        </p:txBody>
      </p:sp>
      <p:sp>
        <p:nvSpPr>
          <p:cNvPr id="4" name="Google Shape;249;p6">
            <a:extLst>
              <a:ext uri="{FF2B5EF4-FFF2-40B4-BE49-F238E27FC236}">
                <a16:creationId xmlns:a16="http://schemas.microsoft.com/office/drawing/2014/main" id="{EBF2FFCD-C12B-3EDE-844F-C618F6658E15}"/>
              </a:ext>
            </a:extLst>
          </p:cNvPr>
          <p:cNvSpPr txBox="1">
            <a:spLocks/>
          </p:cNvSpPr>
          <p:nvPr/>
        </p:nvSpPr>
        <p:spPr>
          <a:xfrm>
            <a:off x="352490" y="147133"/>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lvl1pPr lvl="0" algn="ctr" defTabSz="914400" rtl="0" eaLnBrk="1" latinLnBrk="0" hangingPunct="1">
              <a:lnSpc>
                <a:spcPct val="90000"/>
              </a:lnSpc>
              <a:spcBef>
                <a:spcPts val="0"/>
              </a:spcBef>
              <a:spcAft>
                <a:spcPts val="0"/>
              </a:spcAft>
              <a:buSzPts val="1400"/>
              <a:buNone/>
              <a:defRPr sz="1819" b="0" i="1" kern="1200">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pPr>
              <a:buClr>
                <a:srgbClr val="C00000"/>
              </a:buClr>
              <a:buSzPts val="5900"/>
            </a:pPr>
            <a:r>
              <a:rPr lang="en-IN" sz="2800" dirty="0"/>
              <a:t>ROC CURVE ANALYSIS</a:t>
            </a:r>
            <a:endParaRPr lang="en-IN" sz="2500" b="1" i="0" dirty="0">
              <a:solidFill>
                <a:schemeClr val="accent1"/>
              </a:solidFill>
            </a:endParaRPr>
          </a:p>
        </p:txBody>
      </p:sp>
      <p:sp>
        <p:nvSpPr>
          <p:cNvPr id="5" name="TextBox 4">
            <a:extLst>
              <a:ext uri="{FF2B5EF4-FFF2-40B4-BE49-F238E27FC236}">
                <a16:creationId xmlns:a16="http://schemas.microsoft.com/office/drawing/2014/main" id="{68454D5C-CBC6-9B7C-ED3F-4CA36887556F}"/>
              </a:ext>
            </a:extLst>
          </p:cNvPr>
          <p:cNvSpPr txBox="1"/>
          <p:nvPr/>
        </p:nvSpPr>
        <p:spPr>
          <a:xfrm>
            <a:off x="301215" y="902824"/>
            <a:ext cx="11763487" cy="2308324"/>
          </a:xfrm>
          <a:prstGeom prst="rect">
            <a:avLst/>
          </a:prstGeom>
          <a:noFill/>
        </p:spPr>
        <p:txBody>
          <a:bodyPr wrap="square" rtlCol="0">
            <a:spAutoFit/>
          </a:bodyPr>
          <a:lstStyle/>
          <a:p>
            <a:r>
              <a:rPr lang="en-US" dirty="0"/>
              <a:t>Receiver Operating Characteristic (ROC) curves were used to evaluate classifier performance across different decision thresholds. High knowing the true positive rate against false positive rate allows assessment of model discriminative ability independent of class imbalance. The near-unity AUC values across classes indicate excellent separability, especially for SVM and Random Forest models.</a:t>
            </a:r>
          </a:p>
          <a:p>
            <a:endParaRPr lang="en-US" dirty="0"/>
          </a:p>
          <a:p>
            <a:pPr marL="285750" indent="-285750">
              <a:buFont typeface="Arial" panose="020B0604020202020204" pitchFamily="34" charset="0"/>
              <a:buChar char="•"/>
            </a:pPr>
            <a:r>
              <a:rPr lang="en-US" dirty="0"/>
              <a:t>ROC-AUC close to 1.0 indicates strong discrimination</a:t>
            </a:r>
          </a:p>
          <a:p>
            <a:pPr marL="285750" indent="-285750">
              <a:buFont typeface="Arial" panose="020B0604020202020204" pitchFamily="34" charset="0"/>
              <a:buChar char="•"/>
            </a:pPr>
            <a:r>
              <a:rPr lang="en-US" dirty="0"/>
              <a:t>Consistent performance across all classes</a:t>
            </a:r>
          </a:p>
          <a:p>
            <a:pPr marL="285750" indent="-285750">
              <a:buFont typeface="Arial" panose="020B0604020202020204" pitchFamily="34" charset="0"/>
              <a:buChar char="•"/>
            </a:pPr>
            <a:r>
              <a:rPr lang="en-IN" dirty="0"/>
              <a:t>Threshold-independent evaluation</a:t>
            </a:r>
          </a:p>
        </p:txBody>
      </p:sp>
      <p:pic>
        <p:nvPicPr>
          <p:cNvPr id="7" name="Picture 6">
            <a:extLst>
              <a:ext uri="{FF2B5EF4-FFF2-40B4-BE49-F238E27FC236}">
                <a16:creationId xmlns:a16="http://schemas.microsoft.com/office/drawing/2014/main" id="{7F25F598-EDC9-D5DA-38D8-76D6E26A9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115" y="3351017"/>
            <a:ext cx="4680479" cy="3445816"/>
          </a:xfrm>
          <a:prstGeom prst="rect">
            <a:avLst/>
          </a:prstGeom>
        </p:spPr>
      </p:pic>
    </p:spTree>
    <p:extLst>
      <p:ext uri="{BB962C8B-B14F-4D97-AF65-F5344CB8AC3E}">
        <p14:creationId xmlns:p14="http://schemas.microsoft.com/office/powerpoint/2010/main" val="3647727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6"/>
          <p:cNvSpPr txBox="1">
            <a:spLocks noGrp="1"/>
          </p:cNvSpPr>
          <p:nvPr>
            <p:ph type="title"/>
          </p:nvPr>
        </p:nvSpPr>
        <p:spPr>
          <a:xfrm>
            <a:off x="1174875" y="60648"/>
            <a:ext cx="8550435" cy="638176"/>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p>
            <a:pPr>
              <a:buClr>
                <a:srgbClr val="C00000"/>
              </a:buClr>
              <a:buSzPts val="5900"/>
            </a:pPr>
            <a:r>
              <a:rPr lang="en-US" sz="3578" b="1" i="0">
                <a:solidFill>
                  <a:srgbClr val="C00000"/>
                </a:solidFill>
                <a:latin typeface="Bookman Old Style"/>
                <a:ea typeface="Bookman Old Style"/>
                <a:cs typeface="Bookman Old Style"/>
                <a:sym typeface="Bookman Old Style"/>
              </a:rPr>
              <a:t>Literature Review </a:t>
            </a:r>
            <a:endParaRPr/>
          </a:p>
        </p:txBody>
      </p:sp>
      <p:sp>
        <p:nvSpPr>
          <p:cNvPr id="250" name="Google Shape;250;p6"/>
          <p:cNvSpPr txBox="1"/>
          <p:nvPr/>
        </p:nvSpPr>
        <p:spPr>
          <a:xfrm>
            <a:off x="4038792" y="6356453"/>
            <a:ext cx="4114491" cy="364932"/>
          </a:xfrm>
          <a:prstGeom prst="rect">
            <a:avLst/>
          </a:prstGeom>
          <a:noFill/>
          <a:ln>
            <a:noFill/>
          </a:ln>
        </p:spPr>
        <p:txBody>
          <a:bodyPr spcFirstLastPara="1" wrap="square" lIns="91354" tIns="45677" rIns="91354" bIns="45677" anchor="ctr" anchorCtr="0">
            <a:noAutofit/>
          </a:bodyPr>
          <a:lstStyle/>
          <a:p>
            <a:pPr algn="ctr">
              <a:buClr>
                <a:srgbClr val="C00000"/>
              </a:buClr>
              <a:buSzPts val="2000"/>
            </a:pPr>
            <a:r>
              <a:rPr lang="en-US" sz="1213" b="1">
                <a:solidFill>
                  <a:srgbClr val="C00000"/>
                </a:solidFill>
                <a:latin typeface="Bookman Old Style"/>
                <a:ea typeface="Bookman Old Style"/>
                <a:cs typeface="Bookman Old Style"/>
                <a:sym typeface="Bookman Old Style"/>
              </a:rPr>
              <a:t>RV COLLEGE OF ENGINEERING</a:t>
            </a:r>
            <a:endParaRPr sz="1092"/>
          </a:p>
        </p:txBody>
      </p:sp>
      <p:sp>
        <p:nvSpPr>
          <p:cNvPr id="251" name="Google Shape;251;p6"/>
          <p:cNvSpPr txBox="1"/>
          <p:nvPr/>
        </p:nvSpPr>
        <p:spPr>
          <a:xfrm>
            <a:off x="9273745" y="6346826"/>
            <a:ext cx="2742630" cy="365842"/>
          </a:xfrm>
          <a:prstGeom prst="rect">
            <a:avLst/>
          </a:prstGeom>
          <a:noFill/>
          <a:ln>
            <a:noFill/>
          </a:ln>
        </p:spPr>
        <p:txBody>
          <a:bodyPr spcFirstLastPara="1" wrap="square" lIns="91354" tIns="45677" rIns="91354" bIns="45677" anchor="ctr" anchorCtr="0">
            <a:noAutofit/>
          </a:bodyPr>
          <a:lstStyle/>
          <a:p>
            <a:pPr algn="r">
              <a:buClr>
                <a:srgbClr val="002060"/>
              </a:buClr>
              <a:buSzPts val="2000"/>
            </a:pPr>
            <a:fld id="{00000000-1234-1234-1234-123412341234}" type="slidenum">
              <a:rPr lang="en-US" sz="1213" b="1">
                <a:solidFill>
                  <a:srgbClr val="002060"/>
                </a:solidFill>
                <a:latin typeface="Bookman Old Style"/>
                <a:ea typeface="Bookman Old Style"/>
                <a:cs typeface="Bookman Old Style"/>
                <a:sym typeface="Bookman Old Style"/>
              </a:rPr>
              <a:pPr algn="r">
                <a:buClr>
                  <a:srgbClr val="002060"/>
                </a:buClr>
                <a:buSzPts val="2000"/>
              </a:pPr>
              <a:t>14</a:t>
            </a:fld>
            <a:endParaRPr sz="1092"/>
          </a:p>
        </p:txBody>
      </p:sp>
      <p:graphicFrame>
        <p:nvGraphicFramePr>
          <p:cNvPr id="252" name="Google Shape;252;p6"/>
          <p:cNvGraphicFramePr/>
          <p:nvPr>
            <p:extLst>
              <p:ext uri="{D42A27DB-BD31-4B8C-83A1-F6EECF244321}">
                <p14:modId xmlns:p14="http://schemas.microsoft.com/office/powerpoint/2010/main" val="129014055"/>
              </p:ext>
            </p:extLst>
          </p:nvPr>
        </p:nvGraphicFramePr>
        <p:xfrm>
          <a:off x="422858" y="778876"/>
          <a:ext cx="11195692" cy="5654052"/>
        </p:xfrm>
        <a:graphic>
          <a:graphicData uri="http://schemas.openxmlformats.org/drawingml/2006/table">
            <a:tbl>
              <a:tblPr>
                <a:noFill/>
              </a:tblPr>
              <a:tblGrid>
                <a:gridCol w="4180422">
                  <a:extLst>
                    <a:ext uri="{9D8B030D-6E8A-4147-A177-3AD203B41FA5}">
                      <a16:colId xmlns:a16="http://schemas.microsoft.com/office/drawing/2014/main" val="20000"/>
                    </a:ext>
                  </a:extLst>
                </a:gridCol>
                <a:gridCol w="4036947">
                  <a:extLst>
                    <a:ext uri="{9D8B030D-6E8A-4147-A177-3AD203B41FA5}">
                      <a16:colId xmlns:a16="http://schemas.microsoft.com/office/drawing/2014/main" val="20001"/>
                    </a:ext>
                  </a:extLst>
                </a:gridCol>
                <a:gridCol w="2978323">
                  <a:extLst>
                    <a:ext uri="{9D8B030D-6E8A-4147-A177-3AD203B41FA5}">
                      <a16:colId xmlns:a16="http://schemas.microsoft.com/office/drawing/2014/main" val="20002"/>
                    </a:ext>
                  </a:extLst>
                </a:gridCol>
              </a:tblGrid>
              <a:tr h="331726">
                <a:tc>
                  <a:txBody>
                    <a:bodyPr/>
                    <a:lstStyle/>
                    <a:p>
                      <a:pPr marL="0" marR="0" lvl="0" indent="0" algn="l" rtl="0">
                        <a:lnSpc>
                          <a:spcPct val="100000"/>
                        </a:lnSpc>
                        <a:spcBef>
                          <a:spcPts val="0"/>
                        </a:spcBef>
                        <a:spcAft>
                          <a:spcPts val="0"/>
                        </a:spcAft>
                        <a:buClr>
                          <a:srgbClr val="FFFFFF"/>
                        </a:buClr>
                        <a:buSzPts val="2600"/>
                        <a:buFont typeface="Calibri"/>
                        <a:buNone/>
                      </a:pPr>
                      <a:r>
                        <a:rPr lang="en-US" sz="1600" b="1" i="0" u="none" strike="noStrike" cap="none">
                          <a:solidFill>
                            <a:srgbClr val="FFFFFF"/>
                          </a:solidFill>
                          <a:latin typeface="Calibri"/>
                          <a:ea typeface="Calibri"/>
                          <a:cs typeface="Calibri"/>
                          <a:sym typeface="Calibri"/>
                        </a:rPr>
                        <a:t>Title</a:t>
                      </a:r>
                      <a:endParaRPr sz="1100"/>
                    </a:p>
                  </a:txBody>
                  <a:tcPr marL="91430" marR="91430" marT="45723" marB="45723">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2600"/>
                        <a:buFont typeface="Calibri"/>
                        <a:buNone/>
                      </a:pPr>
                      <a:r>
                        <a:rPr lang="en-US" sz="1600" b="1" i="0" u="none" strike="noStrike" cap="none">
                          <a:solidFill>
                            <a:srgbClr val="FFFFFF"/>
                          </a:solidFill>
                          <a:latin typeface="Calibri"/>
                          <a:ea typeface="Calibri"/>
                          <a:cs typeface="Calibri"/>
                          <a:sym typeface="Calibri"/>
                        </a:rPr>
                        <a:t>Authors</a:t>
                      </a:r>
                      <a:endParaRPr sz="1100"/>
                    </a:p>
                  </a:txBody>
                  <a:tcPr marL="91430" marR="91430" marT="45723" marB="45723">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2600"/>
                        <a:buFont typeface="Calibri"/>
                        <a:buNone/>
                      </a:pPr>
                      <a:r>
                        <a:rPr lang="en-US" sz="1600" b="1" i="0" u="none" strike="noStrike" cap="none">
                          <a:solidFill>
                            <a:srgbClr val="FFFFFF"/>
                          </a:solidFill>
                          <a:latin typeface="Calibri"/>
                          <a:ea typeface="Calibri"/>
                          <a:cs typeface="Calibri"/>
                          <a:sym typeface="Calibri"/>
                        </a:rPr>
                        <a:t>Year of Publication </a:t>
                      </a:r>
                      <a:endParaRPr sz="1100"/>
                    </a:p>
                  </a:txBody>
                  <a:tcPr marL="91430" marR="91430" marT="45723" marB="45723">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660930">
                <a:tc>
                  <a:txBody>
                    <a:bodyPr/>
                    <a:lstStyle/>
                    <a:p>
                      <a:pPr marL="0" marR="0" lvl="0" indent="0" algn="l" rtl="0">
                        <a:lnSpc>
                          <a:spcPct val="100000"/>
                        </a:lnSpc>
                        <a:spcBef>
                          <a:spcPts val="0"/>
                        </a:spcBef>
                        <a:spcAft>
                          <a:spcPts val="0"/>
                        </a:spcAft>
                        <a:buClr>
                          <a:schemeClr val="dk1"/>
                        </a:buClr>
                        <a:buSzPts val="2600"/>
                        <a:buFont typeface="Calibri"/>
                        <a:buNone/>
                      </a:pPr>
                      <a:endParaRPr sz="1100" dirty="0"/>
                    </a:p>
                    <a:p>
                      <a:pPr marL="285750" marR="0" lvl="0" indent="-285750" algn="l" rtl="0">
                        <a:spcBef>
                          <a:spcPts val="0"/>
                        </a:spcBef>
                        <a:spcAft>
                          <a:spcPts val="0"/>
                        </a:spcAft>
                        <a:buFont typeface="Arial" panose="020B0604020202020204" pitchFamily="34" charset="0"/>
                        <a:buChar char="•"/>
                      </a:pPr>
                      <a:r>
                        <a:rPr lang="en-US" sz="2000" dirty="0"/>
                        <a:t>Reducing the Dimensionality of Data with Neural Networks</a:t>
                      </a:r>
                      <a:endParaRPr sz="2000" dirty="0">
                        <a:solidFill>
                          <a:schemeClr val="dk1"/>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endParaRPr lang="en-US" sz="1600" dirty="0"/>
                    </a:p>
                    <a:p>
                      <a:pPr marL="285750" marR="0" lvl="0" indent="-285750" algn="l" rtl="0">
                        <a:spcBef>
                          <a:spcPts val="0"/>
                        </a:spcBef>
                        <a:spcAft>
                          <a:spcPts val="0"/>
                        </a:spcAft>
                        <a:buFont typeface="Arial" panose="020B0604020202020204" pitchFamily="34" charset="0"/>
                        <a:buChar char="•"/>
                      </a:pPr>
                      <a:endParaRPr lang="en-US" sz="1600" dirty="0"/>
                    </a:p>
                    <a:p>
                      <a:pPr marL="285750" marR="0" lvl="0" indent="-285750" algn="l" rtl="0">
                        <a:spcBef>
                          <a:spcPts val="0"/>
                        </a:spcBef>
                        <a:spcAft>
                          <a:spcPts val="0"/>
                        </a:spcAft>
                        <a:buFont typeface="Arial" panose="020B0604020202020204" pitchFamily="34" charset="0"/>
                        <a:buChar char="•"/>
                      </a:pPr>
                      <a:endParaRPr lang="en-US" sz="1600" dirty="0"/>
                    </a:p>
                    <a:p>
                      <a:pPr marL="342900" marR="0" lvl="0" indent="-342900" algn="l" rtl="0">
                        <a:spcBef>
                          <a:spcPts val="0"/>
                        </a:spcBef>
                        <a:spcAft>
                          <a:spcPts val="0"/>
                        </a:spcAft>
                        <a:buFont typeface="Arial" panose="020B0604020202020204" pitchFamily="34" charset="0"/>
                        <a:buChar char="•"/>
                      </a:pPr>
                      <a:r>
                        <a:rPr lang="en-US" sz="2000" dirty="0"/>
                        <a:t>Applications and Techniques of Machine Learning in Cancer Classification: A Systematic Review </a:t>
                      </a:r>
                    </a:p>
                    <a:p>
                      <a:pPr marL="342900" marR="0" lvl="0" indent="-342900" algn="l" rtl="0">
                        <a:spcBef>
                          <a:spcPts val="0"/>
                        </a:spcBef>
                        <a:spcAft>
                          <a:spcPts val="0"/>
                        </a:spcAft>
                        <a:buFont typeface="Arial" panose="020B0604020202020204" pitchFamily="34" charset="0"/>
                        <a:buChar char="•"/>
                      </a:pPr>
                      <a:endParaRPr lang="en-US" sz="2000" dirty="0"/>
                    </a:p>
                    <a:p>
                      <a:pPr marL="342900" marR="0" lvl="0" indent="-342900" algn="l" rtl="0">
                        <a:spcBef>
                          <a:spcPts val="0"/>
                        </a:spcBef>
                        <a:spcAft>
                          <a:spcPts val="0"/>
                        </a:spcAft>
                        <a:buFont typeface="Arial" panose="020B0604020202020204" pitchFamily="34" charset="0"/>
                        <a:buChar char="•"/>
                      </a:pPr>
                      <a:endParaRPr lang="en-US" sz="2000" dirty="0"/>
                    </a:p>
                    <a:p>
                      <a:pPr marL="285750" marR="0" lvl="0" indent="-285750" algn="l" rtl="0">
                        <a:spcBef>
                          <a:spcPts val="0"/>
                        </a:spcBef>
                        <a:spcAft>
                          <a:spcPts val="0"/>
                        </a:spcAft>
                        <a:buFont typeface="Arial" panose="020B0604020202020204" pitchFamily="34" charset="0"/>
                        <a:buChar char="•"/>
                      </a:pPr>
                      <a:endParaRPr lang="en-US" sz="1600" dirty="0">
                        <a:solidFill>
                          <a:schemeClr val="dk1"/>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IN"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a:txBody>
                  <a:tcPr marL="91430" marR="91430" marT="45723" marB="45723">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marL="0" marR="0" lvl="0" indent="0" algn="l" rtl="0">
                        <a:lnSpc>
                          <a:spcPct val="100000"/>
                        </a:lnSpc>
                        <a:spcBef>
                          <a:spcPts val="0"/>
                        </a:spcBef>
                        <a:spcAft>
                          <a:spcPts val="0"/>
                        </a:spcAft>
                        <a:buClr>
                          <a:srgbClr val="000000"/>
                        </a:buClr>
                        <a:buSzPts val="2600"/>
                        <a:buFont typeface="Calibri"/>
                        <a:buNone/>
                      </a:pPr>
                      <a:endParaRPr sz="1600" dirty="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Calibri"/>
                        <a:buNone/>
                      </a:pPr>
                      <a:r>
                        <a:rPr lang="fi-FI" sz="2000" dirty="0"/>
                        <a:t>G. E. Hinton, R. R. Salakhutdinov</a:t>
                      </a:r>
                      <a:endParaRPr sz="2000" u="sng" dirty="0">
                        <a:solidFill>
                          <a:srgbClr val="2E2E2E"/>
                        </a:solidFill>
                      </a:endParaRPr>
                    </a:p>
                    <a:p>
                      <a:pPr marL="0" marR="0" lvl="0" indent="0" algn="l" rtl="0">
                        <a:lnSpc>
                          <a:spcPct val="100000"/>
                        </a:lnSpc>
                        <a:spcBef>
                          <a:spcPts val="0"/>
                        </a:spcBef>
                        <a:spcAft>
                          <a:spcPts val="0"/>
                        </a:spcAft>
                        <a:buClr>
                          <a:srgbClr val="000000"/>
                        </a:buClr>
                        <a:buSzPts val="2600"/>
                        <a:buFont typeface="Calibri"/>
                        <a:buNone/>
                      </a:pPr>
                      <a:endParaRPr lang="en-IN" sz="1600" u="sng" dirty="0">
                        <a:solidFill>
                          <a:srgbClr val="2E2E2E"/>
                        </a:solidFill>
                      </a:endParaRPr>
                    </a:p>
                    <a:p>
                      <a:pPr marL="0" marR="0" lvl="0" indent="0" algn="l" rtl="0">
                        <a:lnSpc>
                          <a:spcPct val="100000"/>
                        </a:lnSpc>
                        <a:spcBef>
                          <a:spcPts val="0"/>
                        </a:spcBef>
                        <a:spcAft>
                          <a:spcPts val="0"/>
                        </a:spcAft>
                        <a:buClr>
                          <a:srgbClr val="000000"/>
                        </a:buClr>
                        <a:buSzPts val="2600"/>
                        <a:buFont typeface="Calibri"/>
                        <a:buNone/>
                      </a:pPr>
                      <a:endParaRPr lang="en-IN" sz="1600" u="sng" dirty="0">
                        <a:solidFill>
                          <a:srgbClr val="2E2E2E"/>
                        </a:solidFill>
                      </a:endParaRPr>
                    </a:p>
                    <a:p>
                      <a:pPr marL="0" marR="0" lvl="0" indent="0" algn="l" rtl="0">
                        <a:lnSpc>
                          <a:spcPct val="100000"/>
                        </a:lnSpc>
                        <a:spcBef>
                          <a:spcPts val="0"/>
                        </a:spcBef>
                        <a:spcAft>
                          <a:spcPts val="0"/>
                        </a:spcAft>
                        <a:buClr>
                          <a:srgbClr val="000000"/>
                        </a:buClr>
                        <a:buSzPts val="2600"/>
                        <a:buFont typeface="Calibri"/>
                        <a:buNone/>
                      </a:pPr>
                      <a:endParaRPr lang="en-IN" sz="2000" dirty="0"/>
                    </a:p>
                    <a:p>
                      <a:pPr marL="0" marR="0" lvl="0" indent="0" algn="l" rtl="0">
                        <a:lnSpc>
                          <a:spcPct val="100000"/>
                        </a:lnSpc>
                        <a:spcBef>
                          <a:spcPts val="0"/>
                        </a:spcBef>
                        <a:spcAft>
                          <a:spcPts val="0"/>
                        </a:spcAft>
                        <a:buClr>
                          <a:srgbClr val="000000"/>
                        </a:buClr>
                        <a:buSzPts val="2600"/>
                        <a:buFont typeface="Calibri"/>
                        <a:buNone/>
                      </a:pPr>
                      <a:r>
                        <a:rPr lang="en-IN" sz="2000" dirty="0"/>
                        <a:t>Abrar Yaqoob  · Rabia Musheer Aziz  · Navneet Kumar </a:t>
                      </a:r>
                      <a:r>
                        <a:rPr lang="en-IN" sz="2000" dirty="0" err="1"/>
                        <a:t>verma</a:t>
                      </a:r>
                      <a:endParaRPr sz="2000" u="sng" dirty="0">
                        <a:solidFill>
                          <a:srgbClr val="2E2E2E"/>
                        </a:solidFill>
                      </a:endParaRPr>
                    </a:p>
                  </a:txBody>
                  <a:tcPr marL="91430" marR="91430" marT="45723" marB="45723">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marL="0" marR="0" lvl="0" indent="0" algn="l" rtl="0">
                        <a:lnSpc>
                          <a:spcPct val="100000"/>
                        </a:lnSpc>
                        <a:spcBef>
                          <a:spcPts val="0"/>
                        </a:spcBef>
                        <a:spcAft>
                          <a:spcPts val="0"/>
                        </a:spcAft>
                        <a:buClr>
                          <a:srgbClr val="000000"/>
                        </a:buClr>
                        <a:buSzPts val="2600"/>
                        <a:buFont typeface="Calibri"/>
                        <a:buNone/>
                      </a:pPr>
                      <a:r>
                        <a:rPr lang="en-US" sz="2000" dirty="0">
                          <a:latin typeface="Calibri"/>
                          <a:ea typeface="Calibri"/>
                          <a:cs typeface="Calibri"/>
                          <a:sym typeface="Calibri"/>
                        </a:rPr>
                        <a:t>2006</a:t>
                      </a:r>
                      <a:endParaRPr sz="2000" dirty="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Calibri"/>
                        <a:buNone/>
                      </a:pPr>
                      <a:endParaRPr sz="1600" dirty="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Calibri"/>
                        <a:buNone/>
                      </a:pPr>
                      <a:endParaRPr sz="1600" dirty="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Calibri"/>
                        <a:buNone/>
                      </a:pPr>
                      <a:endParaRPr sz="1600" dirty="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Calibri"/>
                        <a:buNone/>
                      </a:pPr>
                      <a:endParaRPr lang="en-IN" sz="2000" dirty="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Calibri"/>
                        <a:buNone/>
                      </a:pPr>
                      <a:r>
                        <a:rPr lang="en-IN" sz="2000" dirty="0">
                          <a:latin typeface="Calibri"/>
                          <a:ea typeface="Calibri"/>
                          <a:cs typeface="Calibri"/>
                          <a:sym typeface="Calibri"/>
                        </a:rPr>
                        <a:t>2023</a:t>
                      </a:r>
                      <a:endParaRPr sz="2000" dirty="0">
                        <a:latin typeface="Calibri"/>
                        <a:ea typeface="Calibri"/>
                        <a:cs typeface="Calibri"/>
                        <a:sym typeface="Calibri"/>
                      </a:endParaRPr>
                    </a:p>
                  </a:txBody>
                  <a:tcPr marL="91430" marR="91430" marT="45723" marB="45723">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2195381887f_0_14"/>
          <p:cNvSpPr txBox="1">
            <a:spLocks noGrp="1"/>
          </p:cNvSpPr>
          <p:nvPr>
            <p:ph type="title"/>
          </p:nvPr>
        </p:nvSpPr>
        <p:spPr>
          <a:xfrm>
            <a:off x="1174720" y="60482"/>
            <a:ext cx="8550617" cy="638722"/>
          </a:xfrm>
          <a:prstGeom prst="rect">
            <a:avLst/>
          </a:prstGeom>
        </p:spPr>
        <p:txBody>
          <a:bodyPr spcFirstLastPara="1" vert="horz" wrap="square" lIns="91354" tIns="45677" rIns="91354" bIns="45677" rtlCol="0" anchor="ctr" anchorCtr="0">
            <a:noAutofit/>
          </a:bodyPr>
          <a:lstStyle/>
          <a:p>
            <a:r>
              <a:rPr lang="en-US"/>
              <a:t>Literature Review</a:t>
            </a:r>
            <a:endParaRPr/>
          </a:p>
        </p:txBody>
      </p:sp>
      <p:sp>
        <p:nvSpPr>
          <p:cNvPr id="259" name="Google Shape;259;g2195381887f_0_14"/>
          <p:cNvSpPr txBox="1">
            <a:spLocks noGrp="1"/>
          </p:cNvSpPr>
          <p:nvPr>
            <p:ph type="body" idx="1"/>
          </p:nvPr>
        </p:nvSpPr>
        <p:spPr>
          <a:xfrm>
            <a:off x="175223" y="788973"/>
            <a:ext cx="11841554" cy="5923688"/>
          </a:xfrm>
          <a:prstGeom prst="rect">
            <a:avLst/>
          </a:prstGeom>
        </p:spPr>
        <p:txBody>
          <a:bodyPr spcFirstLastPara="1" vert="horz" wrap="square" lIns="91354" tIns="45677" rIns="91354" bIns="45677" rtlCol="0" anchor="t" anchorCtr="0">
            <a:noAutofit/>
          </a:bodyPr>
          <a:lstStyle/>
          <a:p>
            <a:pPr indent="0">
              <a:lnSpc>
                <a:spcPct val="175000"/>
              </a:lnSpc>
              <a:spcBef>
                <a:spcPts val="0"/>
              </a:spcBef>
            </a:pPr>
            <a:r>
              <a:rPr lang="en-US" sz="1698" b="1" dirty="0">
                <a:latin typeface="Roboto"/>
                <a:ea typeface="Roboto"/>
                <a:cs typeface="Roboto"/>
                <a:sym typeface="Roboto"/>
              </a:rPr>
              <a:t>INFERENCE</a:t>
            </a:r>
            <a:endParaRPr sz="1698" b="1" dirty="0">
              <a:latin typeface="Roboto"/>
              <a:ea typeface="Roboto"/>
              <a:cs typeface="Roboto"/>
              <a:sym typeface="Roboto"/>
            </a:endParaRPr>
          </a:p>
          <a:p>
            <a:pPr marL="0" indent="0">
              <a:spcBef>
                <a:spcPts val="1000"/>
              </a:spcBef>
            </a:pPr>
            <a:r>
              <a:rPr lang="en-US" sz="2200" dirty="0"/>
              <a:t>Previous studies have demonstrated the effectiveness of machine learning techniques for cancer classification using gene expression data. Classical models such as SVM and Random Forest have consistently shown strong performance on high-dimensional biological datasets. Recent approaches incorporate deep learning for feature representation; however, these often suffer from limited interpretability and increased computational cost. This work builds upon existing literature by integrating dimensionality reduction with classical machine learning models to achieve balanced performance and interpretability.</a:t>
            </a:r>
          </a:p>
          <a:p>
            <a:pPr marL="0" indent="0">
              <a:spcBef>
                <a:spcPts val="1000"/>
              </a:spcBef>
            </a:pPr>
            <a:endParaRPr lang="en-IN" dirty="0"/>
          </a:p>
          <a:p>
            <a:pPr marL="457200" indent="-457200">
              <a:spcBef>
                <a:spcPts val="1000"/>
              </a:spcBef>
              <a:buFont typeface="Arial" panose="020B0604020202020204" pitchFamily="34" charset="0"/>
              <a:buChar char="•"/>
            </a:pPr>
            <a:r>
              <a:rPr lang="en-US" dirty="0"/>
              <a:t>Machine learning widely applied in transcriptomics</a:t>
            </a:r>
          </a:p>
          <a:p>
            <a:pPr marL="457200" indent="-457200">
              <a:spcBef>
                <a:spcPts val="1000"/>
              </a:spcBef>
              <a:buFont typeface="Arial" panose="020B0604020202020204" pitchFamily="34" charset="0"/>
              <a:buChar char="•"/>
            </a:pPr>
            <a:r>
              <a:rPr lang="en-US" dirty="0"/>
              <a:t>Deep learning improves representation but reduces interpretability</a:t>
            </a:r>
          </a:p>
          <a:p>
            <a:pPr marL="457200" indent="-457200">
              <a:spcBef>
                <a:spcPts val="1000"/>
              </a:spcBef>
              <a:buFont typeface="Arial" panose="020B0604020202020204" pitchFamily="34" charset="0"/>
              <a:buChar char="•"/>
            </a:pPr>
            <a:r>
              <a:rPr lang="en-US" dirty="0"/>
              <a:t>Hybrid approaches offer balanced performance</a:t>
            </a:r>
          </a:p>
          <a:p>
            <a:pPr marL="457200" indent="-457200">
              <a:spcBef>
                <a:spcPts val="1000"/>
              </a:spcBef>
              <a:buFont typeface="Arial" panose="020B0604020202020204" pitchFamily="34" charset="0"/>
              <a:buChar char="•"/>
            </a:pPr>
            <a:endParaRPr lang="en-US" dirty="0"/>
          </a:p>
          <a:p>
            <a:pPr marL="457200" indent="-457200">
              <a:spcBef>
                <a:spcPts val="1000"/>
              </a:spcBef>
              <a:buFont typeface="Arial" panose="020B0604020202020204" pitchFamily="34" charset="0"/>
              <a:buChar char="•"/>
            </a:pPr>
            <a:endParaRPr dirty="0"/>
          </a:p>
        </p:txBody>
      </p:sp>
      <p:sp>
        <p:nvSpPr>
          <p:cNvPr id="260" name="Google Shape;260;g2195381887f_0_14"/>
          <p:cNvSpPr txBox="1">
            <a:spLocks noGrp="1"/>
          </p:cNvSpPr>
          <p:nvPr>
            <p:ph type="sldNum" idx="12"/>
          </p:nvPr>
        </p:nvSpPr>
        <p:spPr>
          <a:xfrm>
            <a:off x="9273745" y="6346826"/>
            <a:ext cx="2742630" cy="365842"/>
          </a:xfrm>
          <a:prstGeom prst="rect">
            <a:avLst/>
          </a:prstGeom>
        </p:spPr>
        <p:txBody>
          <a:bodyPr spcFirstLastPara="1" vert="horz" wrap="square" lIns="91354" tIns="45677" rIns="91354" bIns="45677" rtlCol="0" anchor="ctr" anchorCtr="0">
            <a:noAutofit/>
          </a:bodyPr>
          <a:lstStyle/>
          <a:p>
            <a:pPr>
              <a:buClr>
                <a:srgbClr val="002060"/>
              </a:buClr>
              <a:buSzPts val="2000"/>
            </a:pPr>
            <a:fld id="{00000000-1234-1234-1234-123412341234}" type="slidenum">
              <a:rPr lang="en-US"/>
              <a:pPr>
                <a:buClr>
                  <a:srgbClr val="002060"/>
                </a:buClr>
                <a:buSzPts val="2000"/>
              </a:p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30FB-625F-6C95-8387-DBC818CE4285}"/>
              </a:ext>
            </a:extLst>
          </p:cNvPr>
          <p:cNvSpPr>
            <a:spLocks noGrp="1"/>
          </p:cNvSpPr>
          <p:nvPr>
            <p:ph type="title"/>
          </p:nvPr>
        </p:nvSpPr>
        <p:spPr/>
        <p:txBody>
          <a:bodyPr/>
          <a:lstStyle/>
          <a:p>
            <a:endParaRPr lang="en-IN"/>
          </a:p>
        </p:txBody>
      </p:sp>
      <p:sp>
        <p:nvSpPr>
          <p:cNvPr id="4" name="Google Shape;249;p6">
            <a:extLst>
              <a:ext uri="{FF2B5EF4-FFF2-40B4-BE49-F238E27FC236}">
                <a16:creationId xmlns:a16="http://schemas.microsoft.com/office/drawing/2014/main" id="{B07C8E70-00E6-E2E5-2123-76C25789B710}"/>
              </a:ext>
            </a:extLst>
          </p:cNvPr>
          <p:cNvSpPr txBox="1">
            <a:spLocks/>
          </p:cNvSpPr>
          <p:nvPr/>
        </p:nvSpPr>
        <p:spPr>
          <a:xfrm>
            <a:off x="352490" y="147133"/>
            <a:ext cx="11487150" cy="704402"/>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lvl1pPr lvl="0" algn="ctr" defTabSz="914400" rtl="0" eaLnBrk="1" latinLnBrk="0" hangingPunct="1">
              <a:lnSpc>
                <a:spcPct val="90000"/>
              </a:lnSpc>
              <a:spcBef>
                <a:spcPts val="0"/>
              </a:spcBef>
              <a:spcAft>
                <a:spcPts val="0"/>
              </a:spcAft>
              <a:buSzPts val="1400"/>
              <a:buNone/>
              <a:defRPr sz="1819" b="0" i="1" kern="1200">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pPr>
              <a:buClr>
                <a:srgbClr val="C00000"/>
              </a:buClr>
              <a:buSzPts val="5900"/>
            </a:pPr>
            <a:r>
              <a:rPr lang="en-IN" sz="2800" dirty="0"/>
              <a:t>APPLICATIONS &amp; PROPERTIES</a:t>
            </a:r>
            <a:endParaRPr lang="en-IN" sz="2500" b="1" i="0" dirty="0">
              <a:solidFill>
                <a:schemeClr val="accent1"/>
              </a:solidFill>
            </a:endParaRPr>
          </a:p>
        </p:txBody>
      </p:sp>
      <p:sp>
        <p:nvSpPr>
          <p:cNvPr id="10" name="Text Placeholder 2">
            <a:extLst>
              <a:ext uri="{FF2B5EF4-FFF2-40B4-BE49-F238E27FC236}">
                <a16:creationId xmlns:a16="http://schemas.microsoft.com/office/drawing/2014/main" id="{6FB98637-4790-32A9-0F35-2E8EC9215B25}"/>
              </a:ext>
            </a:extLst>
          </p:cNvPr>
          <p:cNvSpPr>
            <a:spLocks noGrp="1"/>
          </p:cNvSpPr>
          <p:nvPr>
            <p:ph type="body" idx="1"/>
          </p:nvPr>
        </p:nvSpPr>
        <p:spPr>
          <a:xfrm>
            <a:off x="95026" y="1065007"/>
            <a:ext cx="12096974" cy="3887218"/>
          </a:xfrm>
        </p:spPr>
        <p:txBody>
          <a:bodyPr/>
          <a:lstStyle/>
          <a:p>
            <a:r>
              <a:rPr lang="en-US" sz="2000" dirty="0"/>
              <a:t>The proposed framework has significant practical applications in precision oncology and biomedical research. Accurate cancer subtype classification can support early diagnosis, personalized treatment planning, and prognosis estimation. Additionally, the model’s modular design allows easy extension to other omics datasets, making it suitable for integrative multi-omics studies.</a:t>
            </a:r>
          </a:p>
          <a:p>
            <a:endParaRPr lang="en-US" sz="2000" dirty="0"/>
          </a:p>
          <a:p>
            <a:r>
              <a:rPr lang="en-US" sz="2000" dirty="0"/>
              <a:t>Some of the other uses are:</a:t>
            </a:r>
          </a:p>
          <a:p>
            <a:pPr marL="595823" indent="-457200">
              <a:buFont typeface="Arial" panose="020B0604020202020204" pitchFamily="34" charset="0"/>
              <a:buChar char="•"/>
            </a:pPr>
            <a:r>
              <a:rPr lang="en-IN" sz="2000" dirty="0"/>
              <a:t>Precision oncology decision support</a:t>
            </a:r>
          </a:p>
          <a:p>
            <a:pPr marL="595823" indent="-457200">
              <a:buFont typeface="Arial" panose="020B0604020202020204" pitchFamily="34" charset="0"/>
              <a:buChar char="•"/>
            </a:pPr>
            <a:r>
              <a:rPr lang="en-IN" sz="2000" dirty="0"/>
              <a:t>Biomarker discovery</a:t>
            </a:r>
          </a:p>
          <a:p>
            <a:pPr marL="595823" indent="-457200">
              <a:buFont typeface="Arial" panose="020B0604020202020204" pitchFamily="34" charset="0"/>
              <a:buChar char="•"/>
            </a:pPr>
            <a:r>
              <a:rPr lang="en-US" sz="2000" dirty="0"/>
              <a:t>Extension to proteomics and metabolomics</a:t>
            </a:r>
          </a:p>
          <a:p>
            <a:pPr marL="595823" indent="-457200">
              <a:buFont typeface="Arial" panose="020B0604020202020204" pitchFamily="34" charset="0"/>
              <a:buChar char="•"/>
            </a:pPr>
            <a:endParaRPr lang="en-US" dirty="0"/>
          </a:p>
          <a:p>
            <a:endParaRPr lang="en-US" dirty="0"/>
          </a:p>
          <a:p>
            <a:endParaRPr lang="en-IN" dirty="0"/>
          </a:p>
        </p:txBody>
      </p:sp>
      <p:pic>
        <p:nvPicPr>
          <p:cNvPr id="1027" name="Picture 3">
            <a:extLst>
              <a:ext uri="{FF2B5EF4-FFF2-40B4-BE49-F238E27FC236}">
                <a16:creationId xmlns:a16="http://schemas.microsoft.com/office/drawing/2014/main" id="{6E009C5B-B1C9-2430-9AD6-6C5B2378F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359" y="3970861"/>
            <a:ext cx="4956539" cy="28871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recision oncology workflow according to a standardized Molecular Tumor...  | Download Scientific Diagram">
            <a:extLst>
              <a:ext uri="{FF2B5EF4-FFF2-40B4-BE49-F238E27FC236}">
                <a16:creationId xmlns:a16="http://schemas.microsoft.com/office/drawing/2014/main" id="{976C4A6F-CCFB-0001-A0BB-8D96F0B8B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0725" y="3153952"/>
            <a:ext cx="5131397" cy="370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563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B62B2B-4970-C6CF-0FC6-832979D4A0FC}"/>
              </a:ext>
            </a:extLst>
          </p:cNvPr>
          <p:cNvSpPr txBox="1"/>
          <p:nvPr/>
        </p:nvSpPr>
        <p:spPr>
          <a:xfrm>
            <a:off x="352425" y="796067"/>
            <a:ext cx="11666668" cy="5632311"/>
          </a:xfrm>
          <a:prstGeom prst="rect">
            <a:avLst/>
          </a:prstGeom>
          <a:noFill/>
        </p:spPr>
        <p:txBody>
          <a:bodyPr wrap="square" rtlCol="0">
            <a:spAutoFit/>
          </a:bodyPr>
          <a:lstStyle/>
          <a:p>
            <a:r>
              <a:rPr lang="en-US" sz="2000" dirty="0"/>
              <a:t>This work lies at the intersection of computer science, biotechnology, and data science, combining computational modeling with biological interpretation to address cancer classification using gene expression data. The study demonstrates how machine learning and statistical techniques can be effectively applied to high-dimensional RNA-sequencing datasets to uncover meaningful molecular patterns. By integrating principles from bioinformatics, molecular biology, and data analytics, the work reflects a modern interdisciplinary approach that aligns with current computational biology curricula and industry-driven biomedical research practices.</a:t>
            </a:r>
          </a:p>
          <a:p>
            <a:endParaRPr lang="en-US" sz="2000" dirty="0"/>
          </a:p>
          <a:p>
            <a:r>
              <a:rPr lang="en-IN" sz="2000" dirty="0"/>
              <a:t>Key Subject Areas Covered:</a:t>
            </a:r>
          </a:p>
          <a:p>
            <a:pPr marL="342900" indent="-342900">
              <a:buFont typeface="Arial" panose="020B0604020202020204" pitchFamily="34" charset="0"/>
              <a:buChar char="•"/>
            </a:pPr>
            <a:r>
              <a:rPr lang="en-US" sz="2000" b="1" dirty="0"/>
              <a:t>Machine Learning:</a:t>
            </a:r>
            <a:r>
              <a:rPr lang="en-US" sz="2000" dirty="0"/>
              <a:t> Supervised classification models, performance evaluation, and model comparison.</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Bioinformatics:</a:t>
            </a:r>
            <a:r>
              <a:rPr lang="en-US" sz="2000" dirty="0"/>
              <a:t> RNA-sequencing data analysis and gene expression profiling.</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Data Science:</a:t>
            </a:r>
            <a:r>
              <a:rPr lang="en-US" sz="2000" dirty="0"/>
              <a:t> Preprocessing, normalization, dimensionality reduction, and statistical validation.</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Molecular Biology:</a:t>
            </a:r>
            <a:r>
              <a:rPr lang="en-US" sz="2000" dirty="0"/>
              <a:t> Understanding cancer heterogeneity at the gene expression level.</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Computational Biology:</a:t>
            </a:r>
            <a:r>
              <a:rPr lang="en-US" sz="2000" dirty="0"/>
              <a:t> Integration of biological data with computational frameworks for clinical insight.</a:t>
            </a:r>
          </a:p>
        </p:txBody>
      </p:sp>
      <p:sp>
        <p:nvSpPr>
          <p:cNvPr id="5" name="Google Shape;249;p6">
            <a:extLst>
              <a:ext uri="{FF2B5EF4-FFF2-40B4-BE49-F238E27FC236}">
                <a16:creationId xmlns:a16="http://schemas.microsoft.com/office/drawing/2014/main" id="{E0425A10-F1D3-3CC1-D226-F5BE72F3313A}"/>
              </a:ext>
            </a:extLst>
          </p:cNvPr>
          <p:cNvSpPr txBox="1">
            <a:spLocks noGrp="1"/>
          </p:cNvSpPr>
          <p:nvPr>
            <p:ph type="title"/>
          </p:nvPr>
        </p:nvSpPr>
        <p:spPr>
          <a:xfrm>
            <a:off x="352425" y="86285"/>
            <a:ext cx="11487150" cy="564553"/>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vert="horz" wrap="square" lIns="91354" tIns="45677" rIns="91354" bIns="45677" rtlCol="0" anchor="ctr" anchorCtr="0">
            <a:noAutofit/>
          </a:bodyPr>
          <a:lstStyle>
            <a:lvl1pPr lvl="0" algn="ctr" defTabSz="914400" rtl="0" eaLnBrk="1" latinLnBrk="0" hangingPunct="1">
              <a:lnSpc>
                <a:spcPct val="90000"/>
              </a:lnSpc>
              <a:spcBef>
                <a:spcPts val="0"/>
              </a:spcBef>
              <a:spcAft>
                <a:spcPts val="0"/>
              </a:spcAft>
              <a:buSzPts val="1400"/>
              <a:buNone/>
              <a:defRPr sz="1819" b="0" i="1" kern="1200">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pPr>
              <a:buClr>
                <a:srgbClr val="C00000"/>
              </a:buClr>
              <a:buSzPts val="5900"/>
            </a:pPr>
            <a:r>
              <a:rPr lang="en-IN" sz="2800" dirty="0"/>
              <a:t>SUBJECT COVERAGE</a:t>
            </a:r>
            <a:endParaRPr lang="en-IN" sz="2500" b="1" i="0" dirty="0">
              <a:solidFill>
                <a:schemeClr val="accent1"/>
              </a:solidFill>
            </a:endParaRPr>
          </a:p>
        </p:txBody>
      </p:sp>
    </p:spTree>
    <p:extLst>
      <p:ext uri="{BB962C8B-B14F-4D97-AF65-F5344CB8AC3E}">
        <p14:creationId xmlns:p14="http://schemas.microsoft.com/office/powerpoint/2010/main" val="284796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8"/>
          <p:cNvSpPr txBox="1"/>
          <p:nvPr/>
        </p:nvSpPr>
        <p:spPr>
          <a:xfrm>
            <a:off x="10055" y="25992"/>
            <a:ext cx="12191144" cy="685800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55289" tIns="27637" rIns="55289" bIns="27637" anchor="ctr" anchorCtr="0">
            <a:noAutofit/>
          </a:bodyPr>
          <a:lstStyle/>
          <a:p>
            <a:endParaRPr sz="1092">
              <a:solidFill>
                <a:schemeClr val="dk1"/>
              </a:solidFill>
              <a:latin typeface="Calibri"/>
              <a:ea typeface="Calibri"/>
              <a:cs typeface="Calibri"/>
              <a:sym typeface="Calibri"/>
            </a:endParaRPr>
          </a:p>
        </p:txBody>
      </p:sp>
      <p:pic>
        <p:nvPicPr>
          <p:cNvPr id="317" name="Google Shape;317;p18"/>
          <p:cNvPicPr preferRelativeResize="0"/>
          <p:nvPr/>
        </p:nvPicPr>
        <p:blipFill rotWithShape="1">
          <a:blip r:embed="rId3">
            <a:alphaModFix/>
          </a:blip>
          <a:srcRect/>
          <a:stretch/>
        </p:blipFill>
        <p:spPr>
          <a:xfrm>
            <a:off x="189110" y="632468"/>
            <a:ext cx="12158414" cy="6117714"/>
          </a:xfrm>
          <a:prstGeom prst="rect">
            <a:avLst/>
          </a:prstGeom>
          <a:noFill/>
          <a:ln>
            <a:noFill/>
          </a:ln>
        </p:spPr>
      </p:pic>
      <p:sp>
        <p:nvSpPr>
          <p:cNvPr id="318" name="Google Shape;318;p18"/>
          <p:cNvSpPr/>
          <p:nvPr/>
        </p:nvSpPr>
        <p:spPr>
          <a:xfrm>
            <a:off x="611718" y="722958"/>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19" name="Google Shape;319;p18"/>
          <p:cNvSpPr txBox="1"/>
          <p:nvPr/>
        </p:nvSpPr>
        <p:spPr>
          <a:xfrm>
            <a:off x="609793" y="182906"/>
            <a:ext cx="429347" cy="430309"/>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20" name="Google Shape;320;p18"/>
          <p:cNvSpPr/>
          <p:nvPr/>
        </p:nvSpPr>
        <p:spPr>
          <a:xfrm>
            <a:off x="1809268"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21" name="Google Shape;321;p18"/>
          <p:cNvSpPr/>
          <p:nvPr/>
        </p:nvSpPr>
        <p:spPr>
          <a:xfrm>
            <a:off x="1818895" y="439936"/>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22" name="Google Shape;322;p18"/>
          <p:cNvSpPr txBox="1"/>
          <p:nvPr/>
        </p:nvSpPr>
        <p:spPr>
          <a:xfrm>
            <a:off x="1105563" y="265695"/>
            <a:ext cx="1016570" cy="340561"/>
          </a:xfrm>
          <a:prstGeom prst="rect">
            <a:avLst/>
          </a:prstGeom>
          <a:noFill/>
          <a:ln>
            <a:noFill/>
          </a:ln>
        </p:spPr>
        <p:txBody>
          <a:bodyPr spcFirstLastPara="1" wrap="square" lIns="0" tIns="10369" rIns="0" bIns="0" anchor="t" anchorCtr="0">
            <a:spAutoFit/>
          </a:bodyPr>
          <a:lstStyle/>
          <a:p>
            <a:pPr marL="6738">
              <a:lnSpc>
                <a:spcPct val="85000"/>
              </a:lnSpc>
              <a:buClr>
                <a:srgbClr val="231F20"/>
              </a:buClr>
              <a:buSzPts val="2000"/>
            </a:pPr>
            <a:r>
              <a:rPr lang="en-US" sz="1213" b="1">
                <a:solidFill>
                  <a:srgbClr val="231F20"/>
                </a:solidFill>
                <a:latin typeface="Helvetica Neue"/>
                <a:ea typeface="Helvetica Neue"/>
                <a:cs typeface="Helvetica Neue"/>
                <a:sym typeface="Helvetica Neue"/>
              </a:rPr>
              <a:t>RV College of</a:t>
            </a:r>
            <a:endParaRPr sz="1092"/>
          </a:p>
          <a:p>
            <a:pPr marL="6738">
              <a:lnSpc>
                <a:spcPct val="85000"/>
              </a:lnSpc>
              <a:spcBef>
                <a:spcPts val="61"/>
              </a:spcBef>
              <a:buClr>
                <a:srgbClr val="231F20"/>
              </a:buClr>
              <a:buSzPts val="2000"/>
            </a:pPr>
            <a:r>
              <a:rPr lang="en-US" sz="1213" b="1">
                <a:solidFill>
                  <a:srgbClr val="231F20"/>
                </a:solidFill>
                <a:latin typeface="Helvetica Neue"/>
                <a:ea typeface="Helvetica Neue"/>
                <a:cs typeface="Helvetica Neue"/>
                <a:sym typeface="Helvetica Neue"/>
              </a:rPr>
              <a:t>Engineering </a:t>
            </a:r>
            <a:endParaRPr sz="1092"/>
          </a:p>
        </p:txBody>
      </p:sp>
      <p:sp>
        <p:nvSpPr>
          <p:cNvPr id="323" name="Google Shape;323;p18"/>
          <p:cNvSpPr txBox="1">
            <a:spLocks noGrp="1"/>
          </p:cNvSpPr>
          <p:nvPr>
            <p:ph type="title"/>
          </p:nvPr>
        </p:nvSpPr>
        <p:spPr>
          <a:xfrm>
            <a:off x="9607789" y="247404"/>
            <a:ext cx="2231449" cy="653128"/>
          </a:xfrm>
          <a:prstGeom prst="rect">
            <a:avLst/>
          </a:prstGeom>
          <a:noFill/>
          <a:ln>
            <a:noFill/>
          </a:ln>
        </p:spPr>
        <p:txBody>
          <a:bodyPr spcFirstLastPara="1" vert="horz" wrap="square" lIns="0" tIns="0" rIns="0" bIns="0" rtlCol="0" anchor="t" anchorCtr="0">
            <a:spAutoFit/>
          </a:bodyPr>
          <a:lstStyle/>
          <a:p>
            <a:pPr algn="r">
              <a:lnSpc>
                <a:spcPct val="100000"/>
              </a:lnSpc>
              <a:buClr>
                <a:srgbClr val="422C75"/>
              </a:buClr>
              <a:buSzPts val="3500"/>
            </a:pPr>
            <a:r>
              <a:rPr lang="en-US" sz="2122"/>
              <a:t>Go, change the world</a:t>
            </a:r>
            <a:endParaRPr/>
          </a:p>
        </p:txBody>
      </p:sp>
      <p:sp>
        <p:nvSpPr>
          <p:cNvPr id="324" name="Google Shape;324;p18"/>
          <p:cNvSpPr txBox="1"/>
          <p:nvPr/>
        </p:nvSpPr>
        <p:spPr>
          <a:xfrm>
            <a:off x="1030476" y="785532"/>
            <a:ext cx="2500994" cy="576622"/>
          </a:xfrm>
          <a:prstGeom prst="rect">
            <a:avLst/>
          </a:prstGeom>
          <a:gradFill>
            <a:gsLst>
              <a:gs pos="0">
                <a:srgbClr val="DAFDA7"/>
              </a:gs>
              <a:gs pos="35000">
                <a:srgbClr val="E4FDC2"/>
              </a:gs>
              <a:gs pos="100000">
                <a:srgbClr val="F5FFE6"/>
              </a:gs>
            </a:gsLst>
            <a:lin ang="16200000" scaled="0"/>
          </a:gradFill>
          <a:ln w="9525" cap="flat" cmpd="sng">
            <a:solidFill>
              <a:srgbClr val="98B954"/>
            </a:solidFill>
            <a:prstDash val="solid"/>
            <a:miter lim="800000"/>
            <a:headEnd type="none" w="sm" len="sm"/>
            <a:tailEnd type="none" w="sm" len="sm"/>
          </a:ln>
          <a:effectLst>
            <a:outerShdw blurRad="63500" dist="20000" dir="5400000">
              <a:srgbClr val="000000">
                <a:alpha val="37647"/>
              </a:srgbClr>
            </a:outerShdw>
          </a:effectLst>
        </p:spPr>
        <p:txBody>
          <a:bodyPr spcFirstLastPara="1" wrap="square" lIns="0" tIns="7292" rIns="0" bIns="0" anchor="t" anchorCtr="0">
            <a:spAutoFit/>
          </a:bodyPr>
          <a:lstStyle/>
          <a:p>
            <a:pPr marL="7701">
              <a:buClr>
                <a:srgbClr val="005893"/>
              </a:buClr>
              <a:buSzPts val="6100"/>
            </a:pPr>
            <a:r>
              <a:rPr lang="en-US" sz="3699">
                <a:solidFill>
                  <a:srgbClr val="005893"/>
                </a:solidFill>
                <a:latin typeface="Playfair Display"/>
                <a:ea typeface="Playfair Display"/>
                <a:cs typeface="Playfair Display"/>
                <a:sym typeface="Playfair Display"/>
              </a:rPr>
              <a:t>Conclusion</a:t>
            </a:r>
            <a:endParaRPr sz="1092"/>
          </a:p>
        </p:txBody>
      </p:sp>
      <p:sp>
        <p:nvSpPr>
          <p:cNvPr id="325" name="Google Shape;325;p18"/>
          <p:cNvSpPr txBox="1"/>
          <p:nvPr/>
        </p:nvSpPr>
        <p:spPr>
          <a:xfrm>
            <a:off x="8777975" y="6377632"/>
            <a:ext cx="2804232" cy="168059"/>
          </a:xfrm>
          <a:prstGeom prst="rect">
            <a:avLst/>
          </a:prstGeom>
          <a:noFill/>
          <a:ln>
            <a:noFill/>
          </a:ln>
        </p:spPr>
        <p:txBody>
          <a:bodyPr spcFirstLastPara="1" wrap="square" lIns="0" tIns="0" rIns="0" bIns="0" anchor="t" anchorCtr="0">
            <a:spAutoFit/>
          </a:bodyPr>
          <a:lstStyle/>
          <a:p>
            <a:pPr algn="r">
              <a:buClr>
                <a:srgbClr val="898989"/>
              </a:buClr>
              <a:buSzPts val="1800"/>
            </a:pPr>
            <a:fld id="{00000000-1234-1234-1234-123412341234}" type="slidenum">
              <a:rPr lang="en-US" sz="1092">
                <a:solidFill>
                  <a:srgbClr val="898989"/>
                </a:solidFill>
                <a:latin typeface="Calibri"/>
                <a:ea typeface="Calibri"/>
                <a:cs typeface="Calibri"/>
                <a:sym typeface="Calibri"/>
              </a:rPr>
              <a:pPr algn="r">
                <a:buClr>
                  <a:srgbClr val="898989"/>
                </a:buClr>
                <a:buSzPts val="1800"/>
              </a:pPr>
              <a:t>18</a:t>
            </a:fld>
            <a:endParaRPr sz="1092"/>
          </a:p>
        </p:txBody>
      </p:sp>
      <p:sp>
        <p:nvSpPr>
          <p:cNvPr id="326" name="Google Shape;326;p18"/>
          <p:cNvSpPr txBox="1"/>
          <p:nvPr/>
        </p:nvSpPr>
        <p:spPr>
          <a:xfrm>
            <a:off x="1435365" y="1647654"/>
            <a:ext cx="9587926" cy="3805282"/>
          </a:xfrm>
          <a:prstGeom prst="rect">
            <a:avLst/>
          </a:prstGeom>
          <a:noFill/>
          <a:ln>
            <a:noFill/>
          </a:ln>
        </p:spPr>
        <p:txBody>
          <a:bodyPr spcFirstLastPara="1" wrap="square" lIns="55440" tIns="55440" rIns="55440" bIns="55440" anchor="t" anchorCtr="0">
            <a:spAutoFit/>
          </a:bodyPr>
          <a:lstStyle/>
          <a:p>
            <a:r>
              <a:rPr lang="en-US" sz="2000" dirty="0"/>
              <a:t>This study demonstrated an effective and interpretable machine learning framework for cancer subtype classification using gene expression data. By combining dimensionality reduction techniques such as PCA and autoencoders with supervised learning models, the framework successfully addressed challenges associated with high-dimensional transcriptomic data. The results indicate that classical machine learning models, when supported by appropriate feature extraction, can achieve high accuracy and reliable performance in precision oncology applications.</a:t>
            </a:r>
          </a:p>
          <a:p>
            <a:endParaRPr lang="en-US" sz="2000" dirty="0">
              <a:latin typeface="Calibri"/>
              <a:ea typeface="Calibri"/>
              <a:cs typeface="Calibri"/>
              <a:sym typeface="Calibri"/>
            </a:endParaRPr>
          </a:p>
          <a:p>
            <a:pPr marL="342900" indent="-342900">
              <a:buFont typeface="Arial" panose="020B0604020202020204" pitchFamily="34" charset="0"/>
              <a:buChar char="•"/>
            </a:pPr>
            <a:r>
              <a:rPr lang="en-IN" sz="2000" dirty="0"/>
              <a:t>Dimensionality reduction significantly improves model generalization.</a:t>
            </a:r>
          </a:p>
          <a:p>
            <a:pPr marL="342900" indent="-342900">
              <a:buFont typeface="Arial" panose="020B0604020202020204" pitchFamily="34" charset="0"/>
              <a:buChar char="•"/>
            </a:pPr>
            <a:r>
              <a:rPr lang="en-US" sz="2000" dirty="0"/>
              <a:t>Support Vector Machine achieved the highest classification accuracy.</a:t>
            </a:r>
          </a:p>
          <a:p>
            <a:pPr marL="342900" indent="-342900">
              <a:buFont typeface="Arial" panose="020B0604020202020204" pitchFamily="34" charset="0"/>
              <a:buChar char="•"/>
            </a:pPr>
            <a:r>
              <a:rPr lang="en-US" sz="2000" dirty="0"/>
              <a:t>Random Forest provided robust performance and feature interpretability.</a:t>
            </a:r>
          </a:p>
          <a:p>
            <a:pPr marL="342900" indent="-342900">
              <a:buFont typeface="Arial" panose="020B0604020202020204" pitchFamily="34" charset="0"/>
              <a:buChar char="•"/>
            </a:pPr>
            <a:r>
              <a:rPr lang="en-US" sz="2000" dirty="0"/>
              <a:t>Results validate the suitability of ML-based approaches for gene expression analysis</a:t>
            </a:r>
            <a:endParaRPr sz="2000" dirty="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p:nvPr/>
        </p:nvSpPr>
        <p:spPr>
          <a:xfrm>
            <a:off x="35084" y="0"/>
            <a:ext cx="12194995" cy="6858000"/>
          </a:xfrm>
          <a:prstGeom prst="rect">
            <a:avLst/>
          </a:prstGeom>
          <a:solidFill>
            <a:schemeClr val="lt1">
              <a:alpha val="98431"/>
            </a:schemeClr>
          </a:solidFill>
          <a:ln w="76200" cap="flat" cmpd="sng">
            <a:solidFill>
              <a:srgbClr val="005893"/>
            </a:solidFill>
            <a:prstDash val="solid"/>
            <a:miter lim="800000"/>
            <a:headEnd type="none" w="sm" len="sm"/>
            <a:tailEnd type="none" w="sm" len="sm"/>
          </a:ln>
        </p:spPr>
        <p:txBody>
          <a:bodyPr spcFirstLastPara="1" wrap="square" lIns="55289" tIns="27637" rIns="55289" bIns="27637" anchor="ctr" anchorCtr="0">
            <a:noAutofit/>
          </a:bodyPr>
          <a:lstStyle/>
          <a:p>
            <a:endParaRPr sz="1092">
              <a:solidFill>
                <a:schemeClr val="dk1"/>
              </a:solidFill>
              <a:latin typeface="Calibri"/>
              <a:ea typeface="Calibri"/>
              <a:cs typeface="Calibri"/>
              <a:sym typeface="Calibri"/>
            </a:endParaRPr>
          </a:p>
        </p:txBody>
      </p:sp>
      <p:sp>
        <p:nvSpPr>
          <p:cNvPr id="332" name="Google Shape;332;p20"/>
          <p:cNvSpPr txBox="1"/>
          <p:nvPr/>
        </p:nvSpPr>
        <p:spPr>
          <a:xfrm>
            <a:off x="609792" y="182906"/>
            <a:ext cx="430309" cy="43030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33" name="Google Shape;333;p20"/>
          <p:cNvSpPr/>
          <p:nvPr/>
        </p:nvSpPr>
        <p:spPr>
          <a:xfrm>
            <a:off x="1812157" y="438011"/>
            <a:ext cx="34656" cy="34656"/>
          </a:xfrm>
          <a:custGeom>
            <a:avLst/>
            <a:gdLst/>
            <a:ahLst/>
            <a:cxnLst/>
            <a:rect l="l" t="t" r="r" b="b"/>
            <a:pathLst>
              <a:path w="56514" h="56515" extrusionOk="0">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extrusionOk="0">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34" name="Google Shape;334;p20"/>
          <p:cNvSpPr/>
          <p:nvPr/>
        </p:nvSpPr>
        <p:spPr>
          <a:xfrm>
            <a:off x="1821783" y="445712"/>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extrusionOk="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extrusionOk="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a:noFill/>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35" name="Google Shape;335;p20"/>
          <p:cNvSpPr txBox="1"/>
          <p:nvPr/>
        </p:nvSpPr>
        <p:spPr>
          <a:xfrm>
            <a:off x="1105563" y="273396"/>
            <a:ext cx="831739" cy="339791"/>
          </a:xfrm>
          <a:prstGeom prst="rect">
            <a:avLst/>
          </a:prstGeom>
          <a:noFill/>
          <a:ln>
            <a:noFill/>
          </a:ln>
        </p:spPr>
        <p:txBody>
          <a:bodyPr spcFirstLastPara="1" wrap="square" lIns="0" tIns="10369" rIns="0" bIns="0" anchor="t" anchorCtr="0">
            <a:spAutoFit/>
          </a:bodyPr>
          <a:lstStyle/>
          <a:p>
            <a:pPr marL="6738">
              <a:lnSpc>
                <a:spcPct val="106250"/>
              </a:lnSpc>
              <a:buClr>
                <a:srgbClr val="231F20"/>
              </a:buClr>
              <a:buSzPts val="1600"/>
            </a:pPr>
            <a:r>
              <a:rPr lang="en-US" sz="970" b="1">
                <a:solidFill>
                  <a:srgbClr val="231F20"/>
                </a:solidFill>
                <a:latin typeface="Helvetica Neue"/>
                <a:ea typeface="Helvetica Neue"/>
                <a:cs typeface="Helvetica Neue"/>
                <a:sym typeface="Helvetica Neue"/>
              </a:rPr>
              <a:t>RV College of </a:t>
            </a:r>
            <a:endParaRPr sz="1092"/>
          </a:p>
          <a:p>
            <a:pPr marL="6738">
              <a:lnSpc>
                <a:spcPct val="106250"/>
              </a:lnSpc>
              <a:spcBef>
                <a:spcPts val="61"/>
              </a:spcBef>
              <a:buClr>
                <a:srgbClr val="231F20"/>
              </a:buClr>
              <a:buSzPts val="1600"/>
            </a:pPr>
            <a:r>
              <a:rPr lang="en-US" sz="970" b="1">
                <a:solidFill>
                  <a:srgbClr val="231F20"/>
                </a:solidFill>
                <a:latin typeface="Helvetica Neue"/>
                <a:ea typeface="Helvetica Neue"/>
                <a:cs typeface="Helvetica Neue"/>
                <a:sym typeface="Helvetica Neue"/>
              </a:rPr>
              <a:t>Engineering</a:t>
            </a:r>
            <a:endParaRPr sz="1092"/>
          </a:p>
        </p:txBody>
      </p:sp>
      <p:sp>
        <p:nvSpPr>
          <p:cNvPr id="336" name="Google Shape;336;p20"/>
          <p:cNvSpPr/>
          <p:nvPr/>
        </p:nvSpPr>
        <p:spPr>
          <a:xfrm>
            <a:off x="611718" y="722958"/>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2">
              <a:solidFill>
                <a:schemeClr val="dk1"/>
              </a:solidFill>
              <a:latin typeface="Calibri"/>
              <a:ea typeface="Calibri"/>
              <a:cs typeface="Calibri"/>
              <a:sym typeface="Calibri"/>
            </a:endParaRPr>
          </a:p>
        </p:txBody>
      </p:sp>
      <p:sp>
        <p:nvSpPr>
          <p:cNvPr id="337" name="Google Shape;337;p20"/>
          <p:cNvSpPr txBox="1">
            <a:spLocks noGrp="1"/>
          </p:cNvSpPr>
          <p:nvPr>
            <p:ph type="title"/>
          </p:nvPr>
        </p:nvSpPr>
        <p:spPr>
          <a:xfrm>
            <a:off x="9607789" y="247404"/>
            <a:ext cx="2231449" cy="279948"/>
          </a:xfrm>
          <a:prstGeom prst="rect">
            <a:avLst/>
          </a:prstGeom>
          <a:noFill/>
          <a:ln>
            <a:noFill/>
          </a:ln>
        </p:spPr>
        <p:txBody>
          <a:bodyPr spcFirstLastPara="1" vert="horz" wrap="square" lIns="0" tIns="0" rIns="0" bIns="0" rtlCol="0" anchor="t" anchorCtr="0">
            <a:spAutoFit/>
          </a:bodyPr>
          <a:lstStyle/>
          <a:p>
            <a:pPr algn="r">
              <a:lnSpc>
                <a:spcPct val="100000"/>
              </a:lnSpc>
              <a:buClr>
                <a:srgbClr val="422C75"/>
              </a:buClr>
              <a:buSzPts val="3000"/>
            </a:pPr>
            <a:r>
              <a:rPr lang="en-US"/>
              <a:t>Go, change the world</a:t>
            </a:r>
            <a:endParaRPr/>
          </a:p>
        </p:txBody>
      </p:sp>
      <p:sp>
        <p:nvSpPr>
          <p:cNvPr id="338" name="Google Shape;338;p20"/>
          <p:cNvSpPr txBox="1"/>
          <p:nvPr/>
        </p:nvSpPr>
        <p:spPr>
          <a:xfrm>
            <a:off x="2168341" y="237777"/>
            <a:ext cx="2629028" cy="455306"/>
          </a:xfrm>
          <a:prstGeom prst="rect">
            <a:avLst/>
          </a:prstGeom>
          <a:gradFill>
            <a:gsLst>
              <a:gs pos="0">
                <a:srgbClr val="DAFDA7"/>
              </a:gs>
              <a:gs pos="35000">
                <a:srgbClr val="E4FDC2"/>
              </a:gs>
              <a:gs pos="100000">
                <a:srgbClr val="F5FFE6"/>
              </a:gs>
            </a:gsLst>
            <a:lin ang="16200000" scaled="0"/>
          </a:gradFill>
          <a:ln w="9525" cap="flat" cmpd="sng">
            <a:solidFill>
              <a:srgbClr val="98B954"/>
            </a:solidFill>
            <a:prstDash val="solid"/>
            <a:miter lim="800000"/>
            <a:headEnd type="none" w="sm" len="sm"/>
            <a:tailEnd type="none" w="sm" len="sm"/>
          </a:ln>
          <a:effectLst>
            <a:outerShdw blurRad="63500" dist="20000" dir="5400000">
              <a:srgbClr val="000000">
                <a:alpha val="37647"/>
              </a:srgbClr>
            </a:outerShdw>
          </a:effectLst>
        </p:spPr>
        <p:txBody>
          <a:bodyPr spcFirstLastPara="1" wrap="square" lIns="0" tIns="7292" rIns="0" bIns="0" anchor="t" anchorCtr="0">
            <a:spAutoFit/>
          </a:bodyPr>
          <a:lstStyle/>
          <a:p>
            <a:pPr marL="7701">
              <a:buClr>
                <a:srgbClr val="005893"/>
              </a:buClr>
              <a:buSzPts val="4800"/>
            </a:pPr>
            <a:r>
              <a:rPr lang="en-US" sz="2911">
                <a:solidFill>
                  <a:srgbClr val="005893"/>
                </a:solidFill>
                <a:latin typeface="Playfair Display"/>
                <a:ea typeface="Playfair Display"/>
                <a:cs typeface="Playfair Display"/>
                <a:sym typeface="Playfair Display"/>
              </a:rPr>
              <a:t> References</a:t>
            </a:r>
            <a:endParaRPr sz="1092"/>
          </a:p>
        </p:txBody>
      </p:sp>
      <p:sp>
        <p:nvSpPr>
          <p:cNvPr id="339" name="Google Shape;339;p20"/>
          <p:cNvSpPr txBox="1"/>
          <p:nvPr/>
        </p:nvSpPr>
        <p:spPr>
          <a:xfrm>
            <a:off x="8777975" y="6377632"/>
            <a:ext cx="2804232" cy="168059"/>
          </a:xfrm>
          <a:prstGeom prst="rect">
            <a:avLst/>
          </a:prstGeom>
          <a:noFill/>
          <a:ln>
            <a:noFill/>
          </a:ln>
        </p:spPr>
        <p:txBody>
          <a:bodyPr spcFirstLastPara="1" wrap="square" lIns="0" tIns="0" rIns="0" bIns="0" anchor="t" anchorCtr="0">
            <a:spAutoFit/>
          </a:bodyPr>
          <a:lstStyle/>
          <a:p>
            <a:pPr algn="r">
              <a:buClr>
                <a:srgbClr val="898989"/>
              </a:buClr>
              <a:buSzPts val="1800"/>
            </a:pPr>
            <a:fld id="{00000000-1234-1234-1234-123412341234}" type="slidenum">
              <a:rPr lang="en-US" sz="1092">
                <a:solidFill>
                  <a:srgbClr val="898989"/>
                </a:solidFill>
                <a:latin typeface="Calibri"/>
                <a:ea typeface="Calibri"/>
                <a:cs typeface="Calibri"/>
                <a:sym typeface="Calibri"/>
              </a:rPr>
              <a:pPr algn="r">
                <a:buClr>
                  <a:srgbClr val="898989"/>
                </a:buClr>
                <a:buSzPts val="1800"/>
              </a:pPr>
              <a:t>19</a:t>
            </a:fld>
            <a:endParaRPr sz="1092"/>
          </a:p>
        </p:txBody>
      </p:sp>
      <p:sp>
        <p:nvSpPr>
          <p:cNvPr id="340" name="Google Shape;340;p20"/>
          <p:cNvSpPr txBox="1"/>
          <p:nvPr/>
        </p:nvSpPr>
        <p:spPr>
          <a:xfrm>
            <a:off x="278986" y="1304411"/>
            <a:ext cx="11900496" cy="3914273"/>
          </a:xfrm>
          <a:prstGeom prst="rect">
            <a:avLst/>
          </a:prstGeom>
          <a:noFill/>
          <a:ln>
            <a:noFill/>
          </a:ln>
        </p:spPr>
        <p:txBody>
          <a:bodyPr spcFirstLastPara="1" wrap="square" lIns="55304" tIns="27652" rIns="55304" bIns="27652" anchor="t" anchorCtr="0">
            <a:spAutoFit/>
          </a:bodyPr>
          <a:lstStyle/>
          <a:p>
            <a:pPr marL="275321" lvl="1" indent="962">
              <a:buClr>
                <a:schemeClr val="dk1"/>
              </a:buClr>
              <a:buSzPts val="2100"/>
            </a:pPr>
            <a:r>
              <a:rPr lang="en-US" sz="1400" dirty="0"/>
              <a:t>[1] The Cancer Genome Atlas Research Network, “Comprehensive molecular portraits of human breast tumors,” Nature, vol. 490, no. 7418, pp. 61–70, 2012.</a:t>
            </a:r>
          </a:p>
          <a:p>
            <a:pPr marL="275321" lvl="1" indent="962">
              <a:buClr>
                <a:schemeClr val="dk1"/>
              </a:buClr>
              <a:buSzPts val="2100"/>
            </a:pPr>
            <a:endParaRPr lang="en-IN" sz="1400" dirty="0"/>
          </a:p>
          <a:p>
            <a:pPr marL="275321" lvl="1" indent="962">
              <a:buClr>
                <a:schemeClr val="dk1"/>
              </a:buClr>
              <a:buSzPts val="2100"/>
            </a:pPr>
            <a:r>
              <a:rPr lang="en-IN" sz="1400" dirty="0"/>
              <a:t>[2] I. T. Jolliffe and J. Cadima, “Principal component analysis: a review and recent developments,” Philosophical Transactions of the Royal Society A, vol. 374, no. 2065, 2016. </a:t>
            </a:r>
          </a:p>
          <a:p>
            <a:pPr marL="275321" lvl="1" indent="962">
              <a:buClr>
                <a:schemeClr val="dk1"/>
              </a:buClr>
              <a:buSzPts val="2100"/>
            </a:pPr>
            <a:endParaRPr lang="en-IN" sz="1400" dirty="0"/>
          </a:p>
          <a:p>
            <a:pPr marL="275321" lvl="1" indent="962">
              <a:buClr>
                <a:schemeClr val="dk1"/>
              </a:buClr>
              <a:buSzPts val="2100"/>
            </a:pPr>
            <a:r>
              <a:rPr lang="en-IN" sz="1400" dirty="0"/>
              <a:t>[3] G. E. Hinton and R. R. </a:t>
            </a:r>
            <a:r>
              <a:rPr lang="en-IN" sz="1400" dirty="0" err="1"/>
              <a:t>Salakhutdinov</a:t>
            </a:r>
            <a:r>
              <a:rPr lang="en-IN" sz="1400" dirty="0"/>
              <a:t>, “Reducing the dimensionality of data with neural networks,” Science, vol. 313, no. 5786, pp. 504–507, 2006. </a:t>
            </a:r>
          </a:p>
          <a:p>
            <a:pPr marL="275321" lvl="1" indent="962">
              <a:buClr>
                <a:schemeClr val="dk1"/>
              </a:buClr>
              <a:buSzPts val="2100"/>
            </a:pPr>
            <a:endParaRPr lang="en-IN" sz="1400" dirty="0"/>
          </a:p>
          <a:p>
            <a:pPr marL="275321" lvl="1" indent="962">
              <a:buClr>
                <a:schemeClr val="dk1"/>
              </a:buClr>
              <a:buSzPts val="2100"/>
            </a:pPr>
            <a:r>
              <a:rPr lang="en-IN" sz="1400" dirty="0"/>
              <a:t>[4] C. Cortes and V. </a:t>
            </a:r>
            <a:r>
              <a:rPr lang="en-IN" sz="1400" dirty="0" err="1"/>
              <a:t>Vapnik</a:t>
            </a:r>
            <a:r>
              <a:rPr lang="en-IN" sz="1400" dirty="0"/>
              <a:t>, “Support-vector networks,” Machine Learning, vol. 20, no. 3, pp. 273–297, 1995. </a:t>
            </a:r>
          </a:p>
          <a:p>
            <a:pPr marL="275321" lvl="1" indent="962">
              <a:buClr>
                <a:schemeClr val="dk1"/>
              </a:buClr>
              <a:buSzPts val="2100"/>
            </a:pPr>
            <a:endParaRPr lang="en-IN" sz="1400" dirty="0"/>
          </a:p>
          <a:p>
            <a:pPr marL="275321" lvl="1" indent="962">
              <a:buClr>
                <a:schemeClr val="dk1"/>
              </a:buClr>
              <a:buSzPts val="2100"/>
            </a:pPr>
            <a:r>
              <a:rPr lang="en-IN" sz="1400" dirty="0"/>
              <a:t>[5] L. </a:t>
            </a:r>
            <a:r>
              <a:rPr lang="en-IN" sz="1400" dirty="0" err="1"/>
              <a:t>Breiman</a:t>
            </a:r>
            <a:r>
              <a:rPr lang="en-IN" sz="1400" dirty="0"/>
              <a:t>, “Random forests,” Machine Learning, vol. 45, no. 1, pp. 5–32, 2001.</a:t>
            </a:r>
          </a:p>
          <a:p>
            <a:pPr marL="275321" lvl="1" indent="962">
              <a:buClr>
                <a:schemeClr val="dk1"/>
              </a:buClr>
              <a:buSzPts val="2100"/>
            </a:pPr>
            <a:endParaRPr lang="en-IN" sz="1400" dirty="0">
              <a:solidFill>
                <a:schemeClr val="dk1"/>
              </a:solidFill>
              <a:latin typeface="Calibri"/>
              <a:ea typeface="Calibri"/>
              <a:cs typeface="Calibri"/>
              <a:sym typeface="Calibri"/>
            </a:endParaRPr>
          </a:p>
          <a:p>
            <a:pPr marL="275321" lvl="1" indent="962">
              <a:buClr>
                <a:schemeClr val="dk1"/>
              </a:buClr>
              <a:buSzPts val="2100"/>
            </a:pPr>
            <a:r>
              <a:rPr lang="en-US" sz="1400" dirty="0"/>
              <a:t>[6] D. W. Hosmer, S. </a:t>
            </a:r>
            <a:r>
              <a:rPr lang="en-US" sz="1400" dirty="0" err="1"/>
              <a:t>Lemeshow</a:t>
            </a:r>
            <a:r>
              <a:rPr lang="en-US" sz="1400" dirty="0"/>
              <a:t>, and R. Sturdivant, Applied Logistic Regression, Wiley Series in Probability and Statistics, 3rd ed., 2013.</a:t>
            </a:r>
          </a:p>
          <a:p>
            <a:pPr marL="275321" lvl="1" indent="962">
              <a:buClr>
                <a:schemeClr val="dk1"/>
              </a:buClr>
              <a:buSzPts val="2100"/>
            </a:pPr>
            <a:endParaRPr lang="en-US" sz="1400" dirty="0"/>
          </a:p>
          <a:p>
            <a:pPr marL="275321" lvl="1" indent="962">
              <a:buClr>
                <a:schemeClr val="dk1"/>
              </a:buClr>
              <a:buSzPts val="2100"/>
            </a:pPr>
            <a:r>
              <a:rPr lang="en-US" sz="1400" dirty="0"/>
              <a:t>[7] T. Cover and P. Hart, “Nearest neighbor pattern classification,” IEEE Transactions on Information Theory, vol. 13, no. 1, pp. 21–27, 1967. </a:t>
            </a:r>
          </a:p>
          <a:p>
            <a:pPr marL="275321" lvl="1" indent="962">
              <a:buClr>
                <a:schemeClr val="dk1"/>
              </a:buClr>
              <a:buSzPts val="2100"/>
            </a:pPr>
            <a:endParaRPr lang="en-US" sz="1400" dirty="0"/>
          </a:p>
          <a:p>
            <a:pPr marL="275321" lvl="1" indent="962">
              <a:buClr>
                <a:schemeClr val="dk1"/>
              </a:buClr>
              <a:buSzPts val="2100"/>
            </a:pPr>
            <a:r>
              <a:rPr lang="en-US" sz="1400" dirty="0"/>
              <a:t>[8] B. E. Ainsworth, J. R. Stillman, and J. M. Thompson, “Machine learning approaches in cancer research: a critical review,” Computational and Structural Biotechnology Journal, vol. 18, pp. 97–107, 2020.</a:t>
            </a:r>
            <a:endParaRPr sz="1273" dirty="0">
              <a:solidFill>
                <a:schemeClr val="dk1"/>
              </a:solidFill>
              <a:latin typeface="Calibri"/>
              <a:ea typeface="Calibri"/>
              <a:cs typeface="Calibri"/>
              <a:sym typeface="Calibri"/>
            </a:endParaRPr>
          </a:p>
          <a:p>
            <a:endParaRPr sz="1273" dirty="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2198b72ca4b_2_14"/>
          <p:cNvSpPr txBox="1">
            <a:spLocks noGrp="1"/>
          </p:cNvSpPr>
          <p:nvPr>
            <p:ph type="title"/>
          </p:nvPr>
        </p:nvSpPr>
        <p:spPr>
          <a:xfrm>
            <a:off x="2726200" y="153132"/>
            <a:ext cx="6523479" cy="307081"/>
          </a:xfrm>
          <a:prstGeom prst="rect">
            <a:avLst/>
          </a:prstGeom>
          <a:solidFill>
            <a:srgbClr val="FFF2CC"/>
          </a:solidFill>
          <a:ln w="12700" cap="flat" cmpd="sng">
            <a:solidFill>
              <a:schemeClr val="dk1"/>
            </a:solidFill>
            <a:prstDash val="solid"/>
            <a:miter lim="800000"/>
            <a:headEnd type="none" w="sm" len="sm"/>
            <a:tailEnd type="none" w="sm" len="sm"/>
          </a:ln>
        </p:spPr>
        <p:txBody>
          <a:bodyPr spcFirstLastPara="1" wrap="square" lIns="91263" tIns="45632" rIns="91263" bIns="45632" anchor="ctr" anchorCtr="0">
            <a:noAutofit/>
          </a:bodyPr>
          <a:lstStyle/>
          <a:p>
            <a:pPr algn="ctr">
              <a:spcBef>
                <a:spcPts val="0"/>
              </a:spcBef>
              <a:buClr>
                <a:srgbClr val="C00000"/>
              </a:buClr>
              <a:buSzPts val="5900"/>
            </a:pPr>
            <a:r>
              <a:rPr lang="en-US" sz="3153" b="1">
                <a:solidFill>
                  <a:srgbClr val="C00000"/>
                </a:solidFill>
                <a:latin typeface="Bookman Old Style"/>
                <a:ea typeface="Bookman Old Style"/>
                <a:cs typeface="Bookman Old Style"/>
                <a:sym typeface="Bookman Old Style"/>
              </a:rPr>
              <a:t>Phase</a:t>
            </a:r>
            <a:r>
              <a:rPr lang="en-US" sz="3153" b="1">
                <a:solidFill>
                  <a:srgbClr val="FF0000"/>
                </a:solidFill>
                <a:latin typeface="Bookman Old Style"/>
                <a:ea typeface="Bookman Old Style"/>
                <a:cs typeface="Bookman Old Style"/>
                <a:sym typeface="Bookman Old Style"/>
              </a:rPr>
              <a:t> </a:t>
            </a:r>
            <a:r>
              <a:rPr lang="en-US" sz="3153" b="1">
                <a:solidFill>
                  <a:srgbClr val="C00000"/>
                </a:solidFill>
                <a:latin typeface="Bookman Old Style"/>
                <a:ea typeface="Bookman Old Style"/>
                <a:cs typeface="Bookman Old Style"/>
                <a:sym typeface="Bookman Old Style"/>
              </a:rPr>
              <a:t>II</a:t>
            </a:r>
            <a:r>
              <a:rPr lang="en-US" sz="3153" b="1">
                <a:solidFill>
                  <a:srgbClr val="FF0000"/>
                </a:solidFill>
                <a:latin typeface="Bookman Old Style"/>
                <a:ea typeface="Bookman Old Style"/>
                <a:cs typeface="Bookman Old Style"/>
                <a:sym typeface="Bookman Old Style"/>
              </a:rPr>
              <a:t> </a:t>
            </a:r>
            <a:r>
              <a:rPr lang="en-US" sz="3153" b="1">
                <a:solidFill>
                  <a:srgbClr val="C00000"/>
                </a:solidFill>
                <a:latin typeface="Bookman Old Style"/>
                <a:ea typeface="Bookman Old Style"/>
                <a:cs typeface="Bookman Old Style"/>
                <a:sym typeface="Bookman Old Style"/>
              </a:rPr>
              <a:t>Plan</a:t>
            </a:r>
            <a:endParaRPr sz="424"/>
          </a:p>
        </p:txBody>
      </p:sp>
      <p:sp>
        <p:nvSpPr>
          <p:cNvPr id="346" name="Google Shape;346;g2198b72ca4b_2_14"/>
          <p:cNvSpPr txBox="1"/>
          <p:nvPr/>
        </p:nvSpPr>
        <p:spPr>
          <a:xfrm>
            <a:off x="4038792" y="6356453"/>
            <a:ext cx="4114491" cy="364932"/>
          </a:xfrm>
          <a:prstGeom prst="rect">
            <a:avLst/>
          </a:prstGeom>
          <a:noFill/>
          <a:ln>
            <a:noFill/>
          </a:ln>
        </p:spPr>
        <p:txBody>
          <a:bodyPr spcFirstLastPara="1" wrap="square" lIns="91263" tIns="45632" rIns="91263" bIns="45632" anchor="ctr" anchorCtr="0">
            <a:noAutofit/>
          </a:bodyPr>
          <a:lstStyle/>
          <a:p>
            <a:pPr algn="ctr">
              <a:buClr>
                <a:srgbClr val="C00000"/>
              </a:buClr>
              <a:buSzPts val="2000"/>
            </a:pPr>
            <a:r>
              <a:rPr lang="en-US" sz="1213" b="1">
                <a:solidFill>
                  <a:srgbClr val="C00000"/>
                </a:solidFill>
                <a:latin typeface="Bookman Old Style"/>
                <a:ea typeface="Bookman Old Style"/>
                <a:cs typeface="Bookman Old Style"/>
                <a:sym typeface="Bookman Old Style"/>
              </a:rPr>
              <a:t>RV COLLEGE OF ENGINEERING</a:t>
            </a:r>
            <a:endParaRPr sz="1092"/>
          </a:p>
        </p:txBody>
      </p:sp>
      <p:sp>
        <p:nvSpPr>
          <p:cNvPr id="347" name="Google Shape;347;g2198b72ca4b_2_14"/>
          <p:cNvSpPr txBox="1"/>
          <p:nvPr/>
        </p:nvSpPr>
        <p:spPr>
          <a:xfrm>
            <a:off x="9049104" y="6346826"/>
            <a:ext cx="2742630" cy="365842"/>
          </a:xfrm>
          <a:prstGeom prst="rect">
            <a:avLst/>
          </a:prstGeom>
          <a:noFill/>
          <a:ln>
            <a:noFill/>
          </a:ln>
        </p:spPr>
        <p:txBody>
          <a:bodyPr spcFirstLastPara="1" wrap="square" lIns="91263" tIns="45632" rIns="91263" bIns="45632" anchor="ctr" anchorCtr="0">
            <a:noAutofit/>
          </a:bodyPr>
          <a:lstStyle/>
          <a:p>
            <a:pPr algn="r">
              <a:buClr>
                <a:srgbClr val="002060"/>
              </a:buClr>
              <a:buSzPts val="2000"/>
            </a:pPr>
            <a:fld id="{00000000-1234-1234-1234-123412341234}" type="slidenum">
              <a:rPr lang="en-US" sz="1213" b="1">
                <a:solidFill>
                  <a:srgbClr val="002060"/>
                </a:solidFill>
                <a:latin typeface="Bookman Old Style"/>
                <a:ea typeface="Bookman Old Style"/>
                <a:cs typeface="Bookman Old Style"/>
                <a:sym typeface="Bookman Old Style"/>
              </a:rPr>
              <a:pPr algn="r">
                <a:buClr>
                  <a:srgbClr val="002060"/>
                </a:buClr>
                <a:buSzPts val="2000"/>
              </a:pPr>
              <a:t>20</a:t>
            </a:fld>
            <a:endParaRPr sz="1092"/>
          </a:p>
        </p:txBody>
      </p:sp>
      <p:sp>
        <p:nvSpPr>
          <p:cNvPr id="2" name="TextBox 1">
            <a:extLst>
              <a:ext uri="{FF2B5EF4-FFF2-40B4-BE49-F238E27FC236}">
                <a16:creationId xmlns:a16="http://schemas.microsoft.com/office/drawing/2014/main" id="{8B57D548-0AB7-0931-8F54-6024EAE045F5}"/>
              </a:ext>
            </a:extLst>
          </p:cNvPr>
          <p:cNvSpPr txBox="1"/>
          <p:nvPr/>
        </p:nvSpPr>
        <p:spPr>
          <a:xfrm>
            <a:off x="279699" y="935915"/>
            <a:ext cx="11629016" cy="4216539"/>
          </a:xfrm>
          <a:prstGeom prst="rect">
            <a:avLst/>
          </a:prstGeom>
          <a:noFill/>
        </p:spPr>
        <p:txBody>
          <a:bodyPr wrap="square" rtlCol="0">
            <a:spAutoFit/>
          </a:bodyPr>
          <a:lstStyle/>
          <a:p>
            <a:r>
              <a:rPr lang="en-US" sz="2400" dirty="0"/>
              <a:t>In Phase II, the proposed framework will be extended to enhance biological relevance, scalability, and clinical applicability. The focus will be on incorporating additional data modalities, improving model interpretability, and validating the approach on larger and more diverse datasets to strengthen its translational potential in real-world biomedical research.</a:t>
            </a:r>
          </a:p>
          <a:p>
            <a:endParaRPr lang="en-US" sz="2400" dirty="0"/>
          </a:p>
          <a:p>
            <a:pPr marL="285750" indent="-285750">
              <a:buFont typeface="Arial" panose="020B0604020202020204" pitchFamily="34" charset="0"/>
              <a:buChar char="•"/>
            </a:pPr>
            <a:r>
              <a:rPr lang="en-IN" sz="2400" dirty="0"/>
              <a:t>Integration of multi-omics data (proteomics, metabolomics).</a:t>
            </a:r>
          </a:p>
          <a:p>
            <a:pPr marL="285750" indent="-285750">
              <a:buFont typeface="Arial" panose="020B0604020202020204" pitchFamily="34" charset="0"/>
              <a:buChar char="•"/>
            </a:pPr>
            <a:r>
              <a:rPr lang="en-US" sz="2400" dirty="0"/>
              <a:t>Exploration of advanced deep learning and hybrid models.</a:t>
            </a:r>
          </a:p>
          <a:p>
            <a:pPr marL="285750" indent="-285750">
              <a:buFont typeface="Arial" panose="020B0604020202020204" pitchFamily="34" charset="0"/>
              <a:buChar char="•"/>
            </a:pPr>
            <a:r>
              <a:rPr lang="en-US" sz="2400" dirty="0"/>
              <a:t>Application of explainable AI (XAI) techniques for clinical trust.</a:t>
            </a:r>
          </a:p>
          <a:p>
            <a:pPr marL="285750" indent="-285750">
              <a:buFont typeface="Arial" panose="020B0604020202020204" pitchFamily="34" charset="0"/>
              <a:buChar char="•"/>
            </a:pPr>
            <a:r>
              <a:rPr lang="en-IN" sz="2400" dirty="0"/>
              <a:t>Validation using larger, multi-</a:t>
            </a:r>
            <a:r>
              <a:rPr lang="en-IN" sz="2400" dirty="0" err="1"/>
              <a:t>center</a:t>
            </a:r>
            <a:r>
              <a:rPr lang="en-IN" sz="2400" dirty="0"/>
              <a:t> cancer datasets.</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4100</TotalTime>
  <Words>1949</Words>
  <Application>Microsoft Office PowerPoint</Application>
  <PresentationFormat>Widescreen</PresentationFormat>
  <Paragraphs>205</Paragraphs>
  <Slides>20</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Bookman Old Style</vt:lpstr>
      <vt:lpstr>Calibri</vt:lpstr>
      <vt:lpstr>Calibri Light</vt:lpstr>
      <vt:lpstr>Helvetica Neue</vt:lpstr>
      <vt:lpstr>Playfair Display</vt:lpstr>
      <vt:lpstr>Roboto</vt:lpstr>
      <vt:lpstr>Times New Roman</vt:lpstr>
      <vt:lpstr>Office Theme</vt:lpstr>
      <vt:lpstr>PowerPoint Presentation</vt:lpstr>
      <vt:lpstr> TEAM INTRODUCTION</vt:lpstr>
      <vt:lpstr>PowerPoint Presentation</vt:lpstr>
      <vt:lpstr>Introduction </vt:lpstr>
      <vt:lpstr>Problem Statement</vt:lpstr>
      <vt:lpstr>Go, change the world</vt:lpstr>
      <vt:lpstr>Go, change the world</vt:lpstr>
      <vt:lpstr>DIMENSIONALITY REDUCTION </vt:lpstr>
      <vt:lpstr>DIMENSIONALITY REDUCTION </vt:lpstr>
      <vt:lpstr>PowerPoint Presentation</vt:lpstr>
      <vt:lpstr>PowerPoint Presentation</vt:lpstr>
      <vt:lpstr>PowerPoint Presentation</vt:lpstr>
      <vt:lpstr>PowerPoint Presentation</vt:lpstr>
      <vt:lpstr>Literature Review </vt:lpstr>
      <vt:lpstr>Literature Review</vt:lpstr>
      <vt:lpstr>PowerPoint Presentation</vt:lpstr>
      <vt:lpstr>SUBJECT COVERAGE</vt:lpstr>
      <vt:lpstr>Go, change the world</vt:lpstr>
      <vt:lpstr>Go, change the world</vt:lpstr>
      <vt:lpstr>Phase II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Shreejay Pandey</dc:creator>
  <cp:lastModifiedBy>Shreejay Pandey</cp:lastModifiedBy>
  <cp:revision>4</cp:revision>
  <dcterms:created xsi:type="dcterms:W3CDTF">2025-12-19T16:57:08Z</dcterms:created>
  <dcterms:modified xsi:type="dcterms:W3CDTF">2025-12-22T13:21:02Z</dcterms:modified>
</cp:coreProperties>
</file>